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embeddedFontLst>
    <p:embeddedFont>
      <p:font typeface="Roboto Medium"/>
      <p:regular r:id="rId42"/>
      <p:bold r:id="rId43"/>
      <p:italic r:id="rId44"/>
      <p:boldItalic r:id="rId45"/>
    </p:embeddedFont>
    <p:embeddedFont>
      <p:font typeface="Robo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jMnjzKHf6j8uZEpxAyJP1vAPOj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6CDA23-F948-4008-9C59-228EAD578FBC}">
  <a:tblStyle styleId="{B86CDA23-F948-4008-9C59-228EAD578FB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RobotoMedium-regular.fntdata"/><Relationship Id="rId41" Type="http://schemas.openxmlformats.org/officeDocument/2006/relationships/slide" Target="slides/slide36.xml"/><Relationship Id="rId44" Type="http://schemas.openxmlformats.org/officeDocument/2006/relationships/font" Target="fonts/RobotoMedium-italic.fntdata"/><Relationship Id="rId43" Type="http://schemas.openxmlformats.org/officeDocument/2006/relationships/font" Target="fonts/RobotoMedium-bold.fntdata"/><Relationship Id="rId46" Type="http://schemas.openxmlformats.org/officeDocument/2006/relationships/font" Target="fonts/Roboto-regular.fntdata"/><Relationship Id="rId45" Type="http://schemas.openxmlformats.org/officeDocument/2006/relationships/font" Target="fonts/Roboto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13febb96f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13febb96f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a13febb96f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13febb96f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13febb96f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a13febb96f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13febb96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13febb96f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a13febb96f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13febb96f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13febb96f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a13febb96f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13febb96f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13febb96f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a13febb96f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13febb96f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13febb96f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3a13febb96f_0_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13febb96f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a13febb96f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a13febb96f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13febb96f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13febb96f_0_1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a13febb96f_0_1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13febb96f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13febb96f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a13febb96f_0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13febb96f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13febb96f_0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g3a13febb96f_0_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13febb96f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13febb96f_0_1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a13febb96f_0_1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13febb96f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a13febb96f_0_1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a13febb96f_0_1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13febb96f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a13febb96f_0_1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a13febb96f_0_1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a13febb96f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a13febb96f_0_2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3a13febb96f_0_2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13febb96f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a13febb96f_0_2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a13febb96f_0_2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a13febb96f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a13febb96f_0_2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3a13febb96f_0_2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13febb96f_0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a13febb96f_0_2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a13febb96f_0_2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13febb96f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13febb96f_0_2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g3a13febb96f_0_2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13febb96f_0_2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a13febb96f_0_28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a13febb96f_0_28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13febb96f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a13febb96f_0_2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g3a13febb96f_0_2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252c7bf2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3a252c7bf2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6" name="Shape 16"/>
        <p:cNvGrpSpPr/>
        <p:nvPr/>
      </p:nvGrpSpPr>
      <p:grpSpPr>
        <a:xfrm>
          <a:off x="0" y="0"/>
          <a:ext cx="0" cy="0"/>
          <a:chOff x="0" y="0"/>
          <a:chExt cx="0" cy="0"/>
        </a:xfrm>
      </p:grpSpPr>
      <p:sp>
        <p:nvSpPr>
          <p:cNvPr id="17" name="Google Shape;17;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Roboto Medium"/>
              <a:buNone/>
              <a:defRPr sz="6000">
                <a:latin typeface="Roboto Medium"/>
                <a:ea typeface="Roboto Medium"/>
                <a:cs typeface="Roboto Medium"/>
                <a:sym typeface="Roboto Medium"/>
              </a:defRPr>
            </a:lvl1pPr>
            <a:lvl2pPr lvl="1">
              <a:spcBef>
                <a:spcPts val="0"/>
              </a:spcBef>
              <a:spcAft>
                <a:spcPts val="0"/>
              </a:spcAft>
              <a:buSzPts val="1400"/>
              <a:buFont typeface="Roboto Medium"/>
              <a:buNone/>
              <a:defRPr>
                <a:latin typeface="Roboto Medium"/>
                <a:ea typeface="Roboto Medium"/>
                <a:cs typeface="Roboto Medium"/>
                <a:sym typeface="Roboto Medium"/>
              </a:defRPr>
            </a:lvl2pPr>
            <a:lvl3pPr lvl="2">
              <a:spcBef>
                <a:spcPts val="0"/>
              </a:spcBef>
              <a:spcAft>
                <a:spcPts val="0"/>
              </a:spcAft>
              <a:buSzPts val="1400"/>
              <a:buFont typeface="Roboto Medium"/>
              <a:buNone/>
              <a:defRPr>
                <a:latin typeface="Roboto Medium"/>
                <a:ea typeface="Roboto Medium"/>
                <a:cs typeface="Roboto Medium"/>
                <a:sym typeface="Roboto Medium"/>
              </a:defRPr>
            </a:lvl3pPr>
            <a:lvl4pPr lvl="3">
              <a:spcBef>
                <a:spcPts val="0"/>
              </a:spcBef>
              <a:spcAft>
                <a:spcPts val="0"/>
              </a:spcAft>
              <a:buSzPts val="1400"/>
              <a:buFont typeface="Roboto Medium"/>
              <a:buNone/>
              <a:defRPr>
                <a:latin typeface="Roboto Medium"/>
                <a:ea typeface="Roboto Medium"/>
                <a:cs typeface="Roboto Medium"/>
                <a:sym typeface="Roboto Medium"/>
              </a:defRPr>
            </a:lvl4pPr>
            <a:lvl5pPr lvl="4">
              <a:spcBef>
                <a:spcPts val="0"/>
              </a:spcBef>
              <a:spcAft>
                <a:spcPts val="0"/>
              </a:spcAft>
              <a:buSzPts val="1400"/>
              <a:buFont typeface="Roboto Medium"/>
              <a:buNone/>
              <a:defRPr>
                <a:latin typeface="Roboto Medium"/>
                <a:ea typeface="Roboto Medium"/>
                <a:cs typeface="Roboto Medium"/>
                <a:sym typeface="Roboto Medium"/>
              </a:defRPr>
            </a:lvl5pPr>
            <a:lvl6pPr lvl="5">
              <a:spcBef>
                <a:spcPts val="0"/>
              </a:spcBef>
              <a:spcAft>
                <a:spcPts val="0"/>
              </a:spcAft>
              <a:buSzPts val="1400"/>
              <a:buFont typeface="Roboto Medium"/>
              <a:buNone/>
              <a:defRPr>
                <a:latin typeface="Roboto Medium"/>
                <a:ea typeface="Roboto Medium"/>
                <a:cs typeface="Roboto Medium"/>
                <a:sym typeface="Roboto Medium"/>
              </a:defRPr>
            </a:lvl6pPr>
            <a:lvl7pPr lvl="6">
              <a:spcBef>
                <a:spcPts val="0"/>
              </a:spcBef>
              <a:spcAft>
                <a:spcPts val="0"/>
              </a:spcAft>
              <a:buSzPts val="1400"/>
              <a:buFont typeface="Roboto Medium"/>
              <a:buNone/>
              <a:defRPr>
                <a:latin typeface="Roboto Medium"/>
                <a:ea typeface="Roboto Medium"/>
                <a:cs typeface="Roboto Medium"/>
                <a:sym typeface="Roboto Medium"/>
              </a:defRPr>
            </a:lvl7pPr>
            <a:lvl8pPr lvl="7">
              <a:spcBef>
                <a:spcPts val="0"/>
              </a:spcBef>
              <a:spcAft>
                <a:spcPts val="0"/>
              </a:spcAft>
              <a:buSzPts val="1400"/>
              <a:buFont typeface="Roboto Medium"/>
              <a:buNone/>
              <a:defRPr>
                <a:latin typeface="Roboto Medium"/>
                <a:ea typeface="Roboto Medium"/>
                <a:cs typeface="Roboto Medium"/>
                <a:sym typeface="Roboto Medium"/>
              </a:defRPr>
            </a:lvl8pPr>
            <a:lvl9pPr lvl="8">
              <a:spcBef>
                <a:spcPts val="0"/>
              </a:spcBef>
              <a:spcAft>
                <a:spcPts val="0"/>
              </a:spcAft>
              <a:buSzPts val="1400"/>
              <a:buFont typeface="Roboto Medium"/>
              <a:buNone/>
              <a:defRPr>
                <a:latin typeface="Roboto Medium"/>
                <a:ea typeface="Roboto Medium"/>
                <a:cs typeface="Roboto Medium"/>
                <a:sym typeface="Roboto Medium"/>
              </a:defRPr>
            </a:lvl9pPr>
          </a:lstStyle>
          <a:p/>
        </p:txBody>
      </p:sp>
      <p:sp>
        <p:nvSpPr>
          <p:cNvPr id="18" name="Google Shape;18;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2" name="Shape 22"/>
        <p:cNvGrpSpPr/>
        <p:nvPr/>
      </p:nvGrpSpPr>
      <p:grpSpPr>
        <a:xfrm>
          <a:off x="0" y="0"/>
          <a:ext cx="0" cy="0"/>
          <a:chOff x="0" y="0"/>
          <a:chExt cx="0" cy="0"/>
        </a:xfrm>
      </p:grpSpPr>
      <p:sp>
        <p:nvSpPr>
          <p:cNvPr id="23" name="Google Shape;2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8" name="Shape 28"/>
        <p:cNvGrpSpPr/>
        <p:nvPr/>
      </p:nvGrpSpPr>
      <p:grpSpPr>
        <a:xfrm>
          <a:off x="0" y="0"/>
          <a:ext cx="0" cy="0"/>
          <a:chOff x="0" y="0"/>
          <a:chExt cx="0" cy="0"/>
        </a:xfrm>
      </p:grpSpPr>
      <p:sp>
        <p:nvSpPr>
          <p:cNvPr id="29" name="Google Shape;29;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Verdan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4" name="Shape 34"/>
        <p:cNvGrpSpPr/>
        <p:nvPr/>
      </p:nvGrpSpPr>
      <p:grpSpPr>
        <a:xfrm>
          <a:off x="0" y="0"/>
          <a:ext cx="0" cy="0"/>
          <a:chOff x="0" y="0"/>
          <a:chExt cx="0" cy="0"/>
        </a:xfrm>
      </p:grpSpPr>
      <p:sp>
        <p:nvSpPr>
          <p:cNvPr id="35" name="Google Shape;35;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1" name="Shape 41"/>
        <p:cNvGrpSpPr/>
        <p:nvPr/>
      </p:nvGrpSpPr>
      <p:grpSpPr>
        <a:xfrm>
          <a:off x="0" y="0"/>
          <a:ext cx="0" cy="0"/>
          <a:chOff x="0" y="0"/>
          <a:chExt cx="0" cy="0"/>
        </a:xfrm>
      </p:grpSpPr>
      <p:sp>
        <p:nvSpPr>
          <p:cNvPr id="42" name="Google Shape;42;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0" name="Shape 50"/>
        <p:cNvGrpSpPr/>
        <p:nvPr/>
      </p:nvGrpSpPr>
      <p:grpSpPr>
        <a:xfrm>
          <a:off x="0" y="0"/>
          <a:ext cx="0" cy="0"/>
          <a:chOff x="0" y="0"/>
          <a:chExt cx="0" cy="0"/>
        </a:xfrm>
      </p:grpSpPr>
      <p:sp>
        <p:nvSpPr>
          <p:cNvPr id="51" name="Google Shape;51;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5" name="Shape 55"/>
        <p:cNvGrpSpPr/>
        <p:nvPr/>
      </p:nvGrpSpPr>
      <p:grpSpPr>
        <a:xfrm>
          <a:off x="0" y="0"/>
          <a:ext cx="0" cy="0"/>
          <a:chOff x="0" y="0"/>
          <a:chExt cx="0" cy="0"/>
        </a:xfrm>
      </p:grpSpPr>
      <p:sp>
        <p:nvSpPr>
          <p:cNvPr id="56" name="Google Shape;5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9" name="Shape 59"/>
        <p:cNvGrpSpPr/>
        <p:nvPr/>
      </p:nvGrpSpPr>
      <p:grpSpPr>
        <a:xfrm>
          <a:off x="0" y="0"/>
          <a:ext cx="0" cy="0"/>
          <a:chOff x="0" y="0"/>
          <a:chExt cx="0" cy="0"/>
        </a:xfrm>
      </p:grpSpPr>
      <p:sp>
        <p:nvSpPr>
          <p:cNvPr id="60" name="Google Shape;60;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6" name="Shape 66"/>
        <p:cNvGrpSpPr/>
        <p:nvPr/>
      </p:nvGrpSpPr>
      <p:grpSpPr>
        <a:xfrm>
          <a:off x="0" y="0"/>
          <a:ext cx="0" cy="0"/>
          <a:chOff x="0" y="0"/>
          <a:chExt cx="0" cy="0"/>
        </a:xfrm>
      </p:grpSpPr>
      <p:sp>
        <p:nvSpPr>
          <p:cNvPr id="67" name="Google Shape;67;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45"/>
          <p:cNvSpPr/>
          <p:nvPr>
            <p:ph idx="2" type="pic"/>
          </p:nvPr>
        </p:nvSpPr>
        <p:spPr>
          <a:xfrm>
            <a:off x="5183188" y="987425"/>
            <a:ext cx="6172200" cy="4873625"/>
          </a:xfrm>
          <a:prstGeom prst="rect">
            <a:avLst/>
          </a:prstGeom>
          <a:noFill/>
          <a:ln>
            <a:noFill/>
          </a:ln>
        </p:spPr>
      </p:sp>
      <p:sp>
        <p:nvSpPr>
          <p:cNvPr id="69" name="Google Shape;69;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3" name="Shape 73"/>
        <p:cNvGrpSpPr/>
        <p:nvPr/>
      </p:nvGrpSpPr>
      <p:grpSpPr>
        <a:xfrm>
          <a:off x="0" y="0"/>
          <a:ext cx="0" cy="0"/>
          <a:chOff x="0" y="0"/>
          <a:chExt cx="0" cy="0"/>
        </a:xfrm>
      </p:grpSpPr>
      <p:sp>
        <p:nvSpPr>
          <p:cNvPr id="74" name="Google Shape;7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9" name="Shape 79"/>
        <p:cNvGrpSpPr/>
        <p:nvPr/>
      </p:nvGrpSpPr>
      <p:grpSpPr>
        <a:xfrm>
          <a:off x="0" y="0"/>
          <a:ext cx="0" cy="0"/>
          <a:chOff x="0" y="0"/>
          <a:chExt cx="0" cy="0"/>
        </a:xfrm>
      </p:grpSpPr>
      <p:sp>
        <p:nvSpPr>
          <p:cNvPr id="80" name="Google Shape;80;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Roboto Medium"/>
              <a:buNone/>
              <a:defRPr i="0" sz="4400" u="none" cap="none" strike="noStrik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Roboto"/>
              <a:buChar char="•"/>
              <a:defRPr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Roboto"/>
              <a:buChar char="•"/>
              <a:defRPr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Roboto"/>
              <a:buChar char="•"/>
              <a:defRPr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6pPr>
            <a:lvl7pPr indent="-342900" lvl="6" marL="32004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7pPr>
            <a:lvl8pPr indent="-342900" lvl="7" marL="36576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8pPr>
            <a:lvl9pPr indent="-342900" lvl="8" marL="4114800" marR="0" rtl="0" algn="l">
              <a:lnSpc>
                <a:spcPct val="90000"/>
              </a:lnSpc>
              <a:spcBef>
                <a:spcPts val="500"/>
              </a:spcBef>
              <a:spcAft>
                <a:spcPts val="0"/>
              </a:spcAft>
              <a:buClr>
                <a:schemeClr val="dk1"/>
              </a:buClr>
              <a:buSzPts val="1800"/>
              <a:buFont typeface="Roboto"/>
              <a:buChar char="•"/>
              <a:defRPr i="0" sz="1800" u="none" cap="none" strike="noStrike">
                <a:solidFill>
                  <a:schemeClr val="dk1"/>
                </a:solidFill>
                <a:latin typeface="Roboto"/>
                <a:ea typeface="Roboto"/>
                <a:cs typeface="Roboto"/>
                <a:sym typeface="Roboto"/>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p:nvPr/>
        </p:nvSpPr>
        <p:spPr>
          <a:xfrm>
            <a:off x="10362600" y="5952325"/>
            <a:ext cx="1830911" cy="905256"/>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 name="Google Shape;1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Verdana"/>
                <a:ea typeface="Verdana"/>
                <a:cs typeface="Verdana"/>
                <a:sym typeface="Verdana"/>
              </a:defRPr>
            </a:lvl1pPr>
            <a:lvl2pPr indent="0" lvl="1" marL="0" marR="0" rtl="0" algn="r">
              <a:spcBef>
                <a:spcPts val="0"/>
              </a:spcBef>
              <a:buNone/>
              <a:defRPr b="0" i="0" sz="1200" u="none" cap="none" strike="noStrike">
                <a:solidFill>
                  <a:srgbClr val="888888"/>
                </a:solidFill>
                <a:latin typeface="Verdana"/>
                <a:ea typeface="Verdana"/>
                <a:cs typeface="Verdana"/>
                <a:sym typeface="Verdana"/>
              </a:defRPr>
            </a:lvl2pPr>
            <a:lvl3pPr indent="0" lvl="2" marL="0" marR="0" rtl="0" algn="r">
              <a:spcBef>
                <a:spcPts val="0"/>
              </a:spcBef>
              <a:buNone/>
              <a:defRPr b="0" i="0" sz="1200" u="none" cap="none" strike="noStrike">
                <a:solidFill>
                  <a:srgbClr val="888888"/>
                </a:solidFill>
                <a:latin typeface="Verdana"/>
                <a:ea typeface="Verdana"/>
                <a:cs typeface="Verdana"/>
                <a:sym typeface="Verdana"/>
              </a:defRPr>
            </a:lvl3pPr>
            <a:lvl4pPr indent="0" lvl="3" marL="0" marR="0" rtl="0" algn="r">
              <a:spcBef>
                <a:spcPts val="0"/>
              </a:spcBef>
              <a:buNone/>
              <a:defRPr b="0" i="0" sz="1200" u="none" cap="none" strike="noStrike">
                <a:solidFill>
                  <a:srgbClr val="888888"/>
                </a:solidFill>
                <a:latin typeface="Verdana"/>
                <a:ea typeface="Verdana"/>
                <a:cs typeface="Verdana"/>
                <a:sym typeface="Verdana"/>
              </a:defRPr>
            </a:lvl4pPr>
            <a:lvl5pPr indent="0" lvl="4" marL="0" marR="0" rtl="0" algn="r">
              <a:spcBef>
                <a:spcPts val="0"/>
              </a:spcBef>
              <a:buNone/>
              <a:defRPr b="0" i="0" sz="1200" u="none" cap="none" strike="noStrike">
                <a:solidFill>
                  <a:srgbClr val="888888"/>
                </a:solidFill>
                <a:latin typeface="Verdana"/>
                <a:ea typeface="Verdana"/>
                <a:cs typeface="Verdana"/>
                <a:sym typeface="Verdana"/>
              </a:defRPr>
            </a:lvl5pPr>
            <a:lvl6pPr indent="0" lvl="5" marL="0" marR="0" rtl="0" algn="r">
              <a:spcBef>
                <a:spcPts val="0"/>
              </a:spcBef>
              <a:buNone/>
              <a:defRPr b="0" i="0" sz="1200" u="none" cap="none" strike="noStrike">
                <a:solidFill>
                  <a:srgbClr val="888888"/>
                </a:solidFill>
                <a:latin typeface="Verdana"/>
                <a:ea typeface="Verdana"/>
                <a:cs typeface="Verdana"/>
                <a:sym typeface="Verdana"/>
              </a:defRPr>
            </a:lvl6pPr>
            <a:lvl7pPr indent="0" lvl="6" marL="0" marR="0" rtl="0" algn="r">
              <a:spcBef>
                <a:spcPts val="0"/>
              </a:spcBef>
              <a:buNone/>
              <a:defRPr b="0" i="0" sz="1200" u="none" cap="none" strike="noStrike">
                <a:solidFill>
                  <a:srgbClr val="888888"/>
                </a:solidFill>
                <a:latin typeface="Verdana"/>
                <a:ea typeface="Verdana"/>
                <a:cs typeface="Verdana"/>
                <a:sym typeface="Verdana"/>
              </a:defRPr>
            </a:lvl7pPr>
            <a:lvl8pPr indent="0" lvl="7" marL="0" marR="0" rtl="0" algn="r">
              <a:spcBef>
                <a:spcPts val="0"/>
              </a:spcBef>
              <a:buNone/>
              <a:defRPr b="0" i="0" sz="1200" u="none" cap="none" strike="noStrike">
                <a:solidFill>
                  <a:srgbClr val="888888"/>
                </a:solidFill>
                <a:latin typeface="Verdana"/>
                <a:ea typeface="Verdana"/>
                <a:cs typeface="Verdana"/>
                <a:sym typeface="Verdana"/>
              </a:defRPr>
            </a:lvl8pPr>
            <a:lvl9pPr indent="0" lvl="8" marL="0" marR="0" rtl="0" algn="r">
              <a:spcBef>
                <a:spcPts val="0"/>
              </a:spcBef>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hyperlink" Target="https://palavrascruzadas-paulofreixinho.blogspot.com/2013/01/obrigado.html" TargetMode="External"/><Relationship Id="rId5" Type="http://schemas.openxmlformats.org/officeDocument/2006/relationships/hyperlink" Target="https://creativecommons.org/licenses/by-nc/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Verdana"/>
              <a:buNone/>
            </a:pPr>
            <a:r>
              <a:rPr lang="pt-BR"/>
              <a:t>CSS - Introdução</a:t>
            </a:r>
            <a:endParaRPr/>
          </a:p>
        </p:txBody>
      </p:sp>
      <p:sp>
        <p:nvSpPr>
          <p:cNvPr id="90" name="Google Shape;90;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pt-BR"/>
              <a:t>Rodrigo Attique</a:t>
            </a:r>
            <a:endParaRPr/>
          </a:p>
          <a:p>
            <a:pPr indent="0" lvl="0" marL="0" rtl="0" algn="ctr">
              <a:lnSpc>
                <a:spcPct val="90000"/>
              </a:lnSpc>
              <a:spcBef>
                <a:spcPts val="1000"/>
              </a:spcBef>
              <a:spcAft>
                <a:spcPts val="0"/>
              </a:spcAft>
              <a:buClr>
                <a:schemeClr val="dk1"/>
              </a:buClr>
              <a:buSzPts val="2400"/>
              <a:buNone/>
            </a:pPr>
            <a:r>
              <a:rPr lang="pt-BR"/>
              <a:t>Desenvolvedor</a:t>
            </a:r>
            <a:endParaRPr/>
          </a:p>
        </p:txBody>
      </p:sp>
      <p:sp>
        <p:nvSpPr>
          <p:cNvPr id="91" name="Google Shape;91;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92" name="Google Shape;9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a13febb96f_0_3"/>
          <p:cNvSpPr txBox="1"/>
          <p:nvPr>
            <p:ph type="ctrTitle"/>
          </p:nvPr>
        </p:nvSpPr>
        <p:spPr>
          <a:xfrm>
            <a:off x="658100" y="622138"/>
            <a:ext cx="9144000" cy="238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Folhas de Estilo</a:t>
            </a:r>
            <a:endParaRPr/>
          </a:p>
        </p:txBody>
      </p:sp>
      <p:sp>
        <p:nvSpPr>
          <p:cNvPr id="99" name="Google Shape;99;g3a13febb96f_0_3"/>
          <p:cNvSpPr txBox="1"/>
          <p:nvPr>
            <p:ph idx="1" type="subTitle"/>
          </p:nvPr>
        </p:nvSpPr>
        <p:spPr>
          <a:xfrm>
            <a:off x="658100" y="2684175"/>
            <a:ext cx="8623500" cy="3549300"/>
          </a:xfrm>
          <a:prstGeom prst="rect">
            <a:avLst/>
          </a:prstGeom>
          <a:noFill/>
          <a:ln>
            <a:noFill/>
          </a:ln>
        </p:spPr>
        <p:txBody>
          <a:bodyPr anchorCtr="0" anchor="t" bIns="45700" lIns="91425" spcFirstLastPara="1" rIns="91425" wrap="square" tIns="45700">
            <a:noAutofit/>
          </a:bodyPr>
          <a:lstStyle/>
          <a:p>
            <a:pPr indent="-76200" lvl="0" marL="228600" rtl="0" algn="l">
              <a:lnSpc>
                <a:spcPct val="90000"/>
              </a:lnSpc>
              <a:spcBef>
                <a:spcPts val="0"/>
              </a:spcBef>
              <a:spcAft>
                <a:spcPts val="0"/>
              </a:spcAft>
              <a:buClr>
                <a:schemeClr val="dk1"/>
              </a:buClr>
              <a:buSzPts val="3000"/>
              <a:buNone/>
            </a:pPr>
            <a:r>
              <a:rPr lang="pt-BR" sz="3000"/>
              <a:t>Documentos HTML são meros esqueletos de código, onde se definem elementos.</a:t>
            </a:r>
            <a:endParaRPr sz="3400"/>
          </a:p>
          <a:p>
            <a:pPr indent="-76200" lvl="0" marL="228600" rtl="0" algn="l">
              <a:lnSpc>
                <a:spcPct val="90000"/>
              </a:lnSpc>
              <a:spcBef>
                <a:spcPts val="1000"/>
              </a:spcBef>
              <a:spcAft>
                <a:spcPts val="0"/>
              </a:spcAft>
              <a:buClr>
                <a:schemeClr val="dk1"/>
              </a:buClr>
              <a:buSzPts val="3000"/>
              <a:buNone/>
            </a:pPr>
            <a:r>
              <a:rPr lang="pt-BR" sz="3000"/>
              <a:t>Para que esses elementos ganhassem vida com o advento da interface gráfica foi necessário adicionar uma camada de estilos.</a:t>
            </a:r>
            <a:endParaRPr sz="3400"/>
          </a:p>
          <a:p>
            <a:pPr indent="-76200" lvl="0" marL="228600" rtl="0" algn="l">
              <a:lnSpc>
                <a:spcPct val="90000"/>
              </a:lnSpc>
              <a:spcBef>
                <a:spcPts val="1000"/>
              </a:spcBef>
              <a:spcAft>
                <a:spcPts val="0"/>
              </a:spcAft>
              <a:buClr>
                <a:schemeClr val="dk1"/>
              </a:buClr>
              <a:buSzPts val="3000"/>
              <a:buNone/>
            </a:pPr>
            <a:r>
              <a:rPr lang="pt-BR" sz="3000"/>
              <a:t>Esses estilos podem ser aplicados de três maneiras diferentes.</a:t>
            </a:r>
            <a:endParaRPr sz="3400"/>
          </a:p>
        </p:txBody>
      </p:sp>
      <p:pic>
        <p:nvPicPr>
          <p:cNvPr descr="Diagrama&#10;&#10;Descrição gerada automaticamente" id="100" name="Google Shape;100;g3a13febb96f_0_3"/>
          <p:cNvPicPr preferRelativeResize="0"/>
          <p:nvPr/>
        </p:nvPicPr>
        <p:blipFill rotWithShape="1">
          <a:blip r:embed="rId3">
            <a:alphaModFix/>
          </a:blip>
          <a:srcRect b="0" l="0" r="951" t="0"/>
          <a:stretch/>
        </p:blipFill>
        <p:spPr>
          <a:xfrm>
            <a:off x="9281550" y="4132020"/>
            <a:ext cx="2287354" cy="2101533"/>
          </a:xfrm>
          <a:custGeom>
            <a:rect b="b" l="l" r="r" t="t"/>
            <a:pathLst>
              <a:path extrusionOk="0" h="3703141" w="4030579">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a:noFill/>
          <a:ln>
            <a:noFill/>
          </a:ln>
        </p:spPr>
      </p:pic>
      <p:pic>
        <p:nvPicPr>
          <p:cNvPr descr="Uma imagem contendo mesa, gato&#10;&#10;Descrição gerada automaticamente" id="101" name="Google Shape;101;g3a13febb96f_0_3"/>
          <p:cNvPicPr preferRelativeResize="0"/>
          <p:nvPr/>
        </p:nvPicPr>
        <p:blipFill rotWithShape="1">
          <a:blip r:embed="rId4">
            <a:alphaModFix/>
          </a:blip>
          <a:srcRect b="0" l="9785" r="2457" t="0"/>
          <a:stretch/>
        </p:blipFill>
        <p:spPr>
          <a:xfrm>
            <a:off x="9281557" y="1122379"/>
            <a:ext cx="2208368" cy="1887463"/>
          </a:xfrm>
          <a:custGeom>
            <a:rect b="b" l="l" r="r" t="t"/>
            <a:pathLst>
              <a:path extrusionOk="0" h="3007909" w="3519312">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ln>
            <a:noFill/>
          </a:ln>
        </p:spPr>
      </p:pic>
      <p:sp>
        <p:nvSpPr>
          <p:cNvPr id="102" name="Google Shape;102;g3a13febb96f_0_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03" name="Google Shape;103;g3a13febb96f_0_3"/>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g3a13febb96f_0_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a13febb96f_0_19"/>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rinquedo de pelúcia&#10;&#10;Descrição gerada automaticamente com confiança média" id="111" name="Google Shape;111;g3a13febb96f_0_19"/>
          <p:cNvPicPr preferRelativeResize="0"/>
          <p:nvPr/>
        </p:nvPicPr>
        <p:blipFill rotWithShape="1">
          <a:blip r:embed="rId3">
            <a:alphaModFix/>
          </a:blip>
          <a:srcRect b="0" l="0" r="0" t="27933"/>
          <a:stretch/>
        </p:blipFill>
        <p:spPr>
          <a:xfrm>
            <a:off x="8795876" y="2278126"/>
            <a:ext cx="2854485" cy="2031766"/>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12" name="Google Shape;112;g3a13febb96f_0_19"/>
          <p:cNvSpPr/>
          <p:nvPr/>
        </p:nvSpPr>
        <p:spPr>
          <a:xfrm>
            <a:off x="4602050" y="650160"/>
            <a:ext cx="2988000" cy="2988000"/>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 name="Google Shape;113;g3a13febb96f_0_19"/>
          <p:cNvSpPr txBox="1"/>
          <p:nvPr>
            <p:ph type="ctrTitle"/>
          </p:nvPr>
        </p:nvSpPr>
        <p:spPr>
          <a:xfrm>
            <a:off x="727350" y="650138"/>
            <a:ext cx="9144000" cy="2387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CSS – Cascade Style Sheet</a:t>
            </a:r>
            <a:endParaRPr/>
          </a:p>
        </p:txBody>
      </p:sp>
      <p:sp>
        <p:nvSpPr>
          <p:cNvPr id="114" name="Google Shape;114;g3a13febb96f_0_19"/>
          <p:cNvSpPr txBox="1"/>
          <p:nvPr>
            <p:ph idx="1" type="subTitle"/>
          </p:nvPr>
        </p:nvSpPr>
        <p:spPr>
          <a:xfrm>
            <a:off x="727350" y="3129825"/>
            <a:ext cx="8068500" cy="2988000"/>
          </a:xfrm>
          <a:prstGeom prst="rect">
            <a:avLst/>
          </a:prstGeom>
          <a:noFill/>
          <a:ln>
            <a:noFill/>
          </a:ln>
        </p:spPr>
        <p:txBody>
          <a:bodyPr anchorCtr="0" anchor="t" bIns="45700" lIns="91425" spcFirstLastPara="1" rIns="91425" wrap="square" tIns="45700">
            <a:normAutofit lnSpcReduction="20000"/>
          </a:bodyPr>
          <a:lstStyle/>
          <a:p>
            <a:pPr indent="-50800" lvl="0" marL="228600" rtl="0" algn="l">
              <a:lnSpc>
                <a:spcPct val="90000"/>
              </a:lnSpc>
              <a:spcBef>
                <a:spcPts val="0"/>
              </a:spcBef>
              <a:spcAft>
                <a:spcPts val="0"/>
              </a:spcAft>
              <a:buClr>
                <a:schemeClr val="dk1"/>
              </a:buClr>
              <a:buSzPts val="3500"/>
              <a:buNone/>
            </a:pPr>
            <a:r>
              <a:rPr lang="pt-BR" sz="3500"/>
              <a:t>Ou Folha de Estilo em Cascata;</a:t>
            </a:r>
            <a:endParaRPr sz="3500"/>
          </a:p>
          <a:p>
            <a:pPr indent="-50800" lvl="0" marL="228600" rtl="0" algn="l">
              <a:lnSpc>
                <a:spcPct val="90000"/>
              </a:lnSpc>
              <a:spcBef>
                <a:spcPts val="1000"/>
              </a:spcBef>
              <a:spcAft>
                <a:spcPts val="0"/>
              </a:spcAft>
              <a:buClr>
                <a:schemeClr val="dk1"/>
              </a:buClr>
              <a:buSzPts val="3500"/>
              <a:buNone/>
            </a:pPr>
            <a:r>
              <a:rPr lang="pt-BR" sz="3500"/>
              <a:t>Quer dizer que enquanto o HTML define a estrutura dos elementos, um arquivo CSS define os estilos dos elementos.</a:t>
            </a:r>
            <a:endParaRPr sz="3500"/>
          </a:p>
          <a:p>
            <a:pPr indent="-50800" lvl="0" marL="228600" rtl="0" algn="l">
              <a:lnSpc>
                <a:spcPct val="90000"/>
              </a:lnSpc>
              <a:spcBef>
                <a:spcPts val="1000"/>
              </a:spcBef>
              <a:spcAft>
                <a:spcPts val="0"/>
              </a:spcAft>
              <a:buClr>
                <a:schemeClr val="dk1"/>
              </a:buClr>
              <a:buSzPts val="3500"/>
              <a:buNone/>
            </a:pPr>
            <a:r>
              <a:rPr lang="pt-BR" sz="3500"/>
              <a:t>Que assim como no HTML obedece uma hierarquia o CSS também.</a:t>
            </a:r>
            <a:endParaRPr sz="3500"/>
          </a:p>
        </p:txBody>
      </p:sp>
      <p:sp>
        <p:nvSpPr>
          <p:cNvPr id="115" name="Google Shape;115;g3a13febb96f_0_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16" name="Google Shape;116;g3a13febb96f_0_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usar as primeiras formas</a:t>
            </a:r>
            <a:endParaRPr/>
          </a:p>
        </p:txBody>
      </p:sp>
      <p:sp>
        <p:nvSpPr>
          <p:cNvPr id="122" name="Google Shape;122;p4"/>
          <p:cNvSpPr txBox="1"/>
          <p:nvPr>
            <p:ph idx="1" type="body"/>
          </p:nvPr>
        </p:nvSpPr>
        <p:spPr>
          <a:xfrm>
            <a:off x="987600" y="4154750"/>
            <a:ext cx="7416600" cy="1980900"/>
          </a:xfrm>
          <a:prstGeom prst="rect">
            <a:avLst/>
          </a:prstGeom>
          <a:noFill/>
          <a:ln>
            <a:noFill/>
          </a:ln>
        </p:spPr>
        <p:txBody>
          <a:bodyPr anchorCtr="0" anchor="t" bIns="45700" lIns="91425" spcFirstLastPara="1" rIns="91425" wrap="square" tIns="45700">
            <a:noAutofit/>
          </a:bodyPr>
          <a:lstStyle/>
          <a:p>
            <a:pPr indent="-254000" lvl="0" marL="228600" rtl="0" algn="l">
              <a:lnSpc>
                <a:spcPct val="90000"/>
              </a:lnSpc>
              <a:spcBef>
                <a:spcPts val="1000"/>
              </a:spcBef>
              <a:spcAft>
                <a:spcPts val="0"/>
              </a:spcAft>
              <a:buClr>
                <a:srgbClr val="FF0000"/>
              </a:buClr>
              <a:buSzPts val="2800"/>
              <a:buChar char="•"/>
            </a:pPr>
            <a:r>
              <a:rPr b="1" lang="pt-BR">
                <a:solidFill>
                  <a:srgbClr val="FF0000"/>
                </a:solidFill>
              </a:rPr>
              <a:t>Porém se tornam inviáveis pois:</a:t>
            </a:r>
            <a:endParaRPr sz="3200"/>
          </a:p>
          <a:p>
            <a:pPr indent="-254000" lvl="1" marL="685800" rtl="0" algn="l">
              <a:lnSpc>
                <a:spcPct val="90000"/>
              </a:lnSpc>
              <a:spcBef>
                <a:spcPts val="500"/>
              </a:spcBef>
              <a:spcAft>
                <a:spcPts val="0"/>
              </a:spcAft>
              <a:buClr>
                <a:srgbClr val="FF0000"/>
              </a:buClr>
              <a:buSzPts val="2800"/>
              <a:buChar char="•"/>
            </a:pPr>
            <a:r>
              <a:rPr b="1" lang="pt-BR" sz="2800">
                <a:solidFill>
                  <a:srgbClr val="FF0000"/>
                </a:solidFill>
              </a:rPr>
              <a:t>Não permitem padronização do código.</a:t>
            </a:r>
            <a:endParaRPr sz="2800"/>
          </a:p>
          <a:p>
            <a:pPr indent="-254000" lvl="1" marL="685800" rtl="0" algn="l">
              <a:lnSpc>
                <a:spcPct val="90000"/>
              </a:lnSpc>
              <a:spcBef>
                <a:spcPts val="500"/>
              </a:spcBef>
              <a:spcAft>
                <a:spcPts val="0"/>
              </a:spcAft>
              <a:buClr>
                <a:srgbClr val="FF0000"/>
              </a:buClr>
              <a:buSzPts val="2800"/>
              <a:buChar char="•"/>
            </a:pPr>
            <a:r>
              <a:rPr b="1" lang="pt-BR" sz="2800">
                <a:solidFill>
                  <a:srgbClr val="FF0000"/>
                </a:solidFill>
              </a:rPr>
              <a:t>Muito retrabalho</a:t>
            </a:r>
            <a:endParaRPr sz="2800"/>
          </a:p>
          <a:p>
            <a:pPr indent="-254000" lvl="1" marL="685800" rtl="0" algn="l">
              <a:lnSpc>
                <a:spcPct val="90000"/>
              </a:lnSpc>
              <a:spcBef>
                <a:spcPts val="500"/>
              </a:spcBef>
              <a:spcAft>
                <a:spcPts val="0"/>
              </a:spcAft>
              <a:buClr>
                <a:srgbClr val="FF0000"/>
              </a:buClr>
              <a:buSzPts val="2800"/>
              <a:buChar char="•"/>
            </a:pPr>
            <a:r>
              <a:rPr b="1" lang="pt-BR" sz="2800">
                <a:solidFill>
                  <a:srgbClr val="FF0000"/>
                </a:solidFill>
              </a:rPr>
              <a:t>Manutenção sofríve</a:t>
            </a:r>
            <a:r>
              <a:rPr lang="pt-BR" sz="2800"/>
              <a:t>l</a:t>
            </a:r>
            <a:endParaRPr sz="2800"/>
          </a:p>
        </p:txBody>
      </p:sp>
      <p:pic>
        <p:nvPicPr>
          <p:cNvPr descr="Brinquedo de pelúcia&#10;&#10;Descrição gerada automaticamente com confiança média" id="123" name="Google Shape;123;p4"/>
          <p:cNvPicPr preferRelativeResize="0"/>
          <p:nvPr/>
        </p:nvPicPr>
        <p:blipFill rotWithShape="1">
          <a:blip r:embed="rId3">
            <a:alphaModFix/>
          </a:blip>
          <a:srcRect b="0" l="0" r="0" t="28603"/>
          <a:stretch/>
        </p:blipFill>
        <p:spPr>
          <a:xfrm>
            <a:off x="8485238" y="4091708"/>
            <a:ext cx="2868561" cy="2043848"/>
          </a:xfrm>
          <a:prstGeom prst="rect">
            <a:avLst/>
          </a:prstGeom>
          <a:noFill/>
          <a:ln>
            <a:noFill/>
          </a:ln>
        </p:spPr>
      </p:pic>
      <p:sp>
        <p:nvSpPr>
          <p:cNvPr id="124" name="Google Shape;1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25" name="Google Shape;1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126" name="Google Shape;126;p4"/>
          <p:cNvSpPr txBox="1"/>
          <p:nvPr/>
        </p:nvSpPr>
        <p:spPr>
          <a:xfrm>
            <a:off x="987600" y="1698000"/>
            <a:ext cx="10216800" cy="2311500"/>
          </a:xfrm>
          <a:prstGeom prst="rect">
            <a:avLst/>
          </a:prstGeom>
          <a:noFill/>
          <a:ln>
            <a:noFill/>
          </a:ln>
        </p:spPr>
        <p:txBody>
          <a:bodyPr anchorCtr="0" anchor="t" bIns="91425" lIns="91425" spcFirstLastPara="1" rIns="91425" wrap="square" tIns="91425">
            <a:spAutoFit/>
          </a:bodyPr>
          <a:lstStyle/>
          <a:p>
            <a:pPr indent="-247650" lvl="0" marL="228600" rtl="0" algn="l">
              <a:lnSpc>
                <a:spcPct val="90000"/>
              </a:lnSpc>
              <a:spcBef>
                <a:spcPts val="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Há duas formas simples de usar:</a:t>
            </a:r>
            <a:endParaRPr sz="3100">
              <a:solidFill>
                <a:schemeClr val="dk1"/>
              </a:solidFill>
              <a:latin typeface="Roboto"/>
              <a:ea typeface="Roboto"/>
              <a:cs typeface="Roboto"/>
              <a:sym typeface="Roboto"/>
            </a:endParaRPr>
          </a:p>
          <a:p>
            <a:pPr indent="-247650" lvl="1" marL="685800" rtl="0" algn="l">
              <a:lnSpc>
                <a:spcPct val="90000"/>
              </a:lnSpc>
              <a:spcBef>
                <a:spcPts val="50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Diretamente nas tags HTML</a:t>
            </a:r>
            <a:endParaRPr sz="2700">
              <a:solidFill>
                <a:schemeClr val="dk1"/>
              </a:solidFill>
              <a:latin typeface="Roboto"/>
              <a:ea typeface="Roboto"/>
              <a:cs typeface="Roboto"/>
              <a:sym typeface="Roboto"/>
            </a:endParaRPr>
          </a:p>
          <a:p>
            <a:pPr indent="-247650" lvl="1" marL="685800" rtl="0" algn="l">
              <a:lnSpc>
                <a:spcPct val="90000"/>
              </a:lnSpc>
              <a:spcBef>
                <a:spcPts val="50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E dentro de uma tag STYLE na tag HEAD.</a:t>
            </a:r>
            <a:endParaRPr sz="2700">
              <a:solidFill>
                <a:schemeClr val="dk1"/>
              </a:solidFill>
              <a:latin typeface="Roboto"/>
              <a:ea typeface="Roboto"/>
              <a:cs typeface="Roboto"/>
              <a:sym typeface="Roboto"/>
            </a:endParaRPr>
          </a:p>
          <a:p>
            <a:pPr indent="-247650" lvl="0" marL="228600" rtl="0" algn="l">
              <a:lnSpc>
                <a:spcPct val="90000"/>
              </a:lnSpc>
              <a:spcBef>
                <a:spcPts val="1000"/>
              </a:spcBef>
              <a:spcAft>
                <a:spcPts val="0"/>
              </a:spcAft>
              <a:buClr>
                <a:schemeClr val="dk1"/>
              </a:buClr>
              <a:buSzPts val="2700"/>
              <a:buFont typeface="Roboto"/>
              <a:buChar char="•"/>
            </a:pPr>
            <a:r>
              <a:rPr lang="pt-BR" sz="2700">
                <a:solidFill>
                  <a:schemeClr val="dk1"/>
                </a:solidFill>
                <a:latin typeface="Roboto"/>
                <a:ea typeface="Roboto"/>
                <a:cs typeface="Roboto"/>
                <a:sym typeface="Roboto"/>
              </a:rPr>
              <a:t>As duas formas apresentadas são muito boas para testes, definições pontuais e prototipagem.</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a13febb96f_0_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Através de um atributo style na TAG</a:t>
            </a:r>
            <a:endParaRPr/>
          </a:p>
        </p:txBody>
      </p:sp>
      <p:sp>
        <p:nvSpPr>
          <p:cNvPr id="133" name="Google Shape;133;g3a13febb96f_0_40"/>
          <p:cNvSpPr txBox="1"/>
          <p:nvPr>
            <p:ph idx="1" type="body"/>
          </p:nvPr>
        </p:nvSpPr>
        <p:spPr>
          <a:xfrm>
            <a:off x="838200" y="1825625"/>
            <a:ext cx="7461900" cy="2968200"/>
          </a:xfrm>
          <a:prstGeom prst="rect">
            <a:avLst/>
          </a:prstGeom>
          <a:noFill/>
          <a:ln>
            <a:noFill/>
          </a:ln>
        </p:spPr>
        <p:txBody>
          <a:bodyPr anchorCtr="0" anchor="t" bIns="45700" lIns="91425" spcFirstLastPara="1" rIns="91425" wrap="square" tIns="45700">
            <a:normAutofit/>
          </a:bodyPr>
          <a:lstStyle/>
          <a:p>
            <a:pPr indent="-336550" lvl="0" marL="228600" rtl="0" algn="l">
              <a:lnSpc>
                <a:spcPct val="90000"/>
              </a:lnSpc>
              <a:spcBef>
                <a:spcPts val="0"/>
              </a:spcBef>
              <a:spcAft>
                <a:spcPts val="0"/>
              </a:spcAft>
              <a:buClr>
                <a:schemeClr val="dk1"/>
              </a:buClr>
              <a:buSzPts val="3700"/>
              <a:buChar char="•"/>
            </a:pPr>
            <a:r>
              <a:rPr lang="pt-BR" sz="3700"/>
              <a:t>Toda tag pode receber um </a:t>
            </a:r>
            <a:r>
              <a:rPr b="1" lang="pt-BR" sz="3700"/>
              <a:t>atributo style </a:t>
            </a:r>
            <a:r>
              <a:rPr lang="pt-BR" sz="3700"/>
              <a:t>para definir estilos.</a:t>
            </a:r>
            <a:endParaRPr sz="4500"/>
          </a:p>
          <a:p>
            <a:pPr indent="-336550" lvl="0" marL="228600" rtl="0" algn="l">
              <a:lnSpc>
                <a:spcPct val="90000"/>
              </a:lnSpc>
              <a:spcBef>
                <a:spcPts val="1000"/>
              </a:spcBef>
              <a:spcAft>
                <a:spcPts val="0"/>
              </a:spcAft>
              <a:buClr>
                <a:schemeClr val="dk1"/>
              </a:buClr>
              <a:buSzPts val="3700"/>
              <a:buChar char="•"/>
            </a:pPr>
            <a:r>
              <a:rPr lang="pt-BR" sz="3700"/>
              <a:t>O problema é que a medida que o site começa a crescer se torna inviável o uso do style.</a:t>
            </a:r>
            <a:endParaRPr sz="3700"/>
          </a:p>
        </p:txBody>
      </p:sp>
      <p:pic>
        <p:nvPicPr>
          <p:cNvPr descr="Brinquedo de pelúcia&#10;&#10;Descrição gerada automaticamente com confiança média" id="134" name="Google Shape;134;g3a13febb96f_0_40"/>
          <p:cNvPicPr preferRelativeResize="0"/>
          <p:nvPr/>
        </p:nvPicPr>
        <p:blipFill rotWithShape="1">
          <a:blip r:embed="rId3">
            <a:alphaModFix/>
          </a:blip>
          <a:srcRect b="0" l="0" r="0" t="28602"/>
          <a:stretch/>
        </p:blipFill>
        <p:spPr>
          <a:xfrm>
            <a:off x="8610588" y="2274476"/>
            <a:ext cx="2868561" cy="2043848"/>
          </a:xfrm>
          <a:prstGeom prst="rect">
            <a:avLst/>
          </a:prstGeom>
          <a:noFill/>
          <a:ln>
            <a:noFill/>
          </a:ln>
        </p:spPr>
      </p:pic>
      <p:pic>
        <p:nvPicPr>
          <p:cNvPr id="135" name="Google Shape;135;g3a13febb96f_0_40"/>
          <p:cNvPicPr preferRelativeResize="0"/>
          <p:nvPr/>
        </p:nvPicPr>
        <p:blipFill rotWithShape="1">
          <a:blip r:embed="rId4">
            <a:alphaModFix/>
          </a:blip>
          <a:srcRect b="0" l="16185" r="0" t="0"/>
          <a:stretch/>
        </p:blipFill>
        <p:spPr>
          <a:xfrm>
            <a:off x="569264" y="4915979"/>
            <a:ext cx="10774981" cy="996300"/>
          </a:xfrm>
          <a:prstGeom prst="rect">
            <a:avLst/>
          </a:prstGeom>
          <a:noFill/>
          <a:ln>
            <a:noFill/>
          </a:ln>
        </p:spPr>
      </p:pic>
      <p:sp>
        <p:nvSpPr>
          <p:cNvPr id="136" name="Google Shape;136;g3a13febb96f_0_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Propriedades básicas</a:t>
            </a:r>
            <a:endParaRPr/>
          </a:p>
        </p:txBody>
      </p:sp>
      <p:sp>
        <p:nvSpPr>
          <p:cNvPr id="142" name="Google Shape;142;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54000" lvl="0" marL="228600" rtl="0" algn="l">
              <a:lnSpc>
                <a:spcPct val="90000"/>
              </a:lnSpc>
              <a:spcBef>
                <a:spcPts val="0"/>
              </a:spcBef>
              <a:spcAft>
                <a:spcPts val="0"/>
              </a:spcAft>
              <a:buClr>
                <a:schemeClr val="dk1"/>
              </a:buClr>
              <a:buSzPts val="3200"/>
              <a:buChar char="•"/>
            </a:pPr>
            <a:r>
              <a:rPr b="1" lang="pt-BR" sz="3200"/>
              <a:t>color: </a:t>
            </a:r>
            <a:r>
              <a:rPr lang="pt-BR" sz="3200"/>
              <a:t>usado para definir cores de elementos;</a:t>
            </a:r>
            <a:endParaRPr sz="3200"/>
          </a:p>
          <a:p>
            <a:pPr indent="-254000" lvl="0" marL="228600" rtl="0" algn="l">
              <a:lnSpc>
                <a:spcPct val="90000"/>
              </a:lnSpc>
              <a:spcBef>
                <a:spcPts val="1000"/>
              </a:spcBef>
              <a:spcAft>
                <a:spcPts val="0"/>
              </a:spcAft>
              <a:buClr>
                <a:schemeClr val="dk1"/>
              </a:buClr>
              <a:buSzPts val="3200"/>
              <a:buChar char="•"/>
            </a:pPr>
            <a:r>
              <a:rPr b="1" lang="pt-BR" sz="3200"/>
              <a:t>background: </a:t>
            </a:r>
            <a:r>
              <a:rPr lang="pt-BR" sz="3200"/>
              <a:t>usado para o plano de fundo; </a:t>
            </a:r>
            <a:endParaRPr sz="3200"/>
          </a:p>
          <a:p>
            <a:pPr indent="-254000" lvl="0" marL="228600" rtl="0" algn="l">
              <a:lnSpc>
                <a:spcPct val="90000"/>
              </a:lnSpc>
              <a:spcBef>
                <a:spcPts val="1000"/>
              </a:spcBef>
              <a:spcAft>
                <a:spcPts val="0"/>
              </a:spcAft>
              <a:buClr>
                <a:schemeClr val="dk1"/>
              </a:buClr>
              <a:buSzPts val="3200"/>
              <a:buChar char="•"/>
            </a:pPr>
            <a:r>
              <a:rPr b="1" lang="pt-BR" sz="3200"/>
              <a:t>margin: </a:t>
            </a:r>
            <a:r>
              <a:rPr lang="pt-BR" sz="3200"/>
              <a:t>cria um pequeno espaço externo entre um elemento e outro;</a:t>
            </a:r>
            <a:endParaRPr sz="3200"/>
          </a:p>
          <a:p>
            <a:pPr indent="-254000" lvl="0" marL="228600" rtl="0" algn="l">
              <a:lnSpc>
                <a:spcPct val="90000"/>
              </a:lnSpc>
              <a:spcBef>
                <a:spcPts val="1000"/>
              </a:spcBef>
              <a:spcAft>
                <a:spcPts val="0"/>
              </a:spcAft>
              <a:buClr>
                <a:schemeClr val="dk1"/>
              </a:buClr>
              <a:buSzPts val="3200"/>
              <a:buChar char="•"/>
            </a:pPr>
            <a:r>
              <a:rPr b="1" lang="pt-BR" sz="3200"/>
              <a:t>border: </a:t>
            </a:r>
            <a:r>
              <a:rPr lang="pt-BR" sz="3200"/>
              <a:t>cria uma linha de borda externa entre elementos.</a:t>
            </a:r>
            <a:endParaRPr sz="3200"/>
          </a:p>
          <a:p>
            <a:pPr indent="-254000" lvl="0" marL="228600" rtl="0" algn="l">
              <a:lnSpc>
                <a:spcPct val="90000"/>
              </a:lnSpc>
              <a:spcBef>
                <a:spcPts val="1000"/>
              </a:spcBef>
              <a:spcAft>
                <a:spcPts val="0"/>
              </a:spcAft>
              <a:buClr>
                <a:schemeClr val="dk1"/>
              </a:buClr>
              <a:buSzPts val="3200"/>
              <a:buChar char="•"/>
            </a:pPr>
            <a:r>
              <a:rPr b="1" lang="pt-BR" sz="3200"/>
              <a:t>padding: </a:t>
            </a:r>
            <a:r>
              <a:rPr lang="pt-BR" sz="3200"/>
              <a:t>como margin, cria um espaço interno entre os elementos;</a:t>
            </a:r>
            <a:endParaRPr sz="3200"/>
          </a:p>
          <a:p>
            <a:pPr indent="-254000" lvl="0" marL="228600" rtl="0" algn="l">
              <a:lnSpc>
                <a:spcPct val="90000"/>
              </a:lnSpc>
              <a:spcBef>
                <a:spcPts val="1000"/>
              </a:spcBef>
              <a:spcAft>
                <a:spcPts val="0"/>
              </a:spcAft>
              <a:buClr>
                <a:schemeClr val="dk1"/>
              </a:buClr>
              <a:buSzPts val="3200"/>
              <a:buChar char="•"/>
            </a:pPr>
            <a:r>
              <a:rPr b="1" lang="pt-BR" sz="3200"/>
              <a:t>font-size: </a:t>
            </a:r>
            <a:r>
              <a:rPr lang="pt-BR" sz="3200"/>
              <a:t>define o tamanho da fonte.</a:t>
            </a:r>
            <a:endParaRPr sz="3200"/>
          </a:p>
        </p:txBody>
      </p:sp>
      <p:sp>
        <p:nvSpPr>
          <p:cNvPr id="143" name="Google Shape;1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44" name="Google Shape;1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Propriedades básicas</a:t>
            </a:r>
            <a:endParaRPr/>
          </a:p>
        </p:txBody>
      </p:sp>
      <p:graphicFrame>
        <p:nvGraphicFramePr>
          <p:cNvPr id="150" name="Google Shape;150;p7"/>
          <p:cNvGraphicFramePr/>
          <p:nvPr/>
        </p:nvGraphicFramePr>
        <p:xfrm>
          <a:off x="838197" y="1690704"/>
          <a:ext cx="3000000" cy="3000000"/>
        </p:xfrm>
        <a:graphic>
          <a:graphicData uri="http://schemas.openxmlformats.org/drawingml/2006/table">
            <a:tbl>
              <a:tblPr bandRow="1" firstRow="1">
                <a:noFill/>
                <a:tableStyleId>{B86CDA23-F948-4008-9C59-228EAD578FBC}</a:tableStyleId>
              </a:tblPr>
              <a:tblGrid>
                <a:gridCol w="3505200"/>
                <a:gridCol w="4226750"/>
                <a:gridCol w="2783650"/>
              </a:tblGrid>
              <a:tr h="609000">
                <a:tc>
                  <a:txBody>
                    <a:bodyPr/>
                    <a:lstStyle/>
                    <a:p>
                      <a:pPr indent="0" lvl="0" marL="0" marR="0" rtl="0" algn="l">
                        <a:spcBef>
                          <a:spcPts val="0"/>
                        </a:spcBef>
                        <a:spcAft>
                          <a:spcPts val="0"/>
                        </a:spcAft>
                        <a:buNone/>
                      </a:pPr>
                      <a:r>
                        <a:rPr lang="pt-BR" sz="2800" u="none" cap="none" strike="noStrike"/>
                        <a:t>Propriedade</a:t>
                      </a:r>
                      <a:endParaRPr sz="2200"/>
                    </a:p>
                  </a:txBody>
                  <a:tcPr marT="45725" marB="45725" marR="91450" marL="91450"/>
                </a:tc>
                <a:tc>
                  <a:txBody>
                    <a:bodyPr/>
                    <a:lstStyle/>
                    <a:p>
                      <a:pPr indent="0" lvl="0" marL="0" marR="0" rtl="0" algn="l">
                        <a:spcBef>
                          <a:spcPts val="0"/>
                        </a:spcBef>
                        <a:spcAft>
                          <a:spcPts val="0"/>
                        </a:spcAft>
                        <a:buNone/>
                      </a:pPr>
                      <a:r>
                        <a:rPr lang="pt-BR" sz="2800"/>
                        <a:t>Valor</a:t>
                      </a:r>
                      <a:endParaRPr sz="2200"/>
                    </a:p>
                  </a:txBody>
                  <a:tcPr marT="45725" marB="45725" marR="91450" marL="91450"/>
                </a:tc>
                <a:tc>
                  <a:txBody>
                    <a:bodyPr/>
                    <a:lstStyle/>
                    <a:p>
                      <a:pPr indent="0" lvl="0" marL="0" marR="0" rtl="0" algn="l">
                        <a:spcBef>
                          <a:spcPts val="0"/>
                        </a:spcBef>
                        <a:spcAft>
                          <a:spcPts val="0"/>
                        </a:spcAft>
                        <a:buNone/>
                      </a:pPr>
                      <a:r>
                        <a:rPr lang="pt-BR" sz="2800"/>
                        <a:t>Exemplo</a:t>
                      </a:r>
                      <a:endParaRPr sz="2200"/>
                    </a:p>
                  </a:txBody>
                  <a:tcPr marT="45725" marB="45725" marR="91450" marL="91450"/>
                </a:tc>
              </a:tr>
              <a:tr h="609000">
                <a:tc>
                  <a:txBody>
                    <a:bodyPr/>
                    <a:lstStyle/>
                    <a:p>
                      <a:pPr indent="0" lvl="0" marL="0" marR="0" rtl="0" algn="l">
                        <a:spcBef>
                          <a:spcPts val="0"/>
                        </a:spcBef>
                        <a:spcAft>
                          <a:spcPts val="0"/>
                        </a:spcAft>
                        <a:buNone/>
                      </a:pPr>
                      <a:r>
                        <a:rPr lang="pt-BR" sz="2800"/>
                        <a:t>color</a:t>
                      </a:r>
                      <a:endParaRPr sz="2200"/>
                    </a:p>
                  </a:txBody>
                  <a:tcPr marT="45725" marB="45725" marR="91450" marL="91450"/>
                </a:tc>
                <a:tc>
                  <a:txBody>
                    <a:bodyPr/>
                    <a:lstStyle/>
                    <a:p>
                      <a:pPr indent="0" lvl="0" marL="0" marR="0" rtl="0" algn="l">
                        <a:spcBef>
                          <a:spcPts val="0"/>
                        </a:spcBef>
                        <a:spcAft>
                          <a:spcPts val="0"/>
                        </a:spcAft>
                        <a:buNone/>
                      </a:pPr>
                      <a:r>
                        <a:rPr lang="pt-BR" sz="2800"/>
                        <a:t>red, green, black, orange...</a:t>
                      </a:r>
                      <a:endParaRPr sz="2200"/>
                    </a:p>
                  </a:txBody>
                  <a:tcPr marT="45725" marB="45725" marR="91450" marL="91450"/>
                </a:tc>
                <a:tc>
                  <a:txBody>
                    <a:bodyPr/>
                    <a:lstStyle/>
                    <a:p>
                      <a:pPr indent="0" lvl="0" marL="0" marR="0" rtl="0" algn="l">
                        <a:spcBef>
                          <a:spcPts val="0"/>
                        </a:spcBef>
                        <a:spcAft>
                          <a:spcPts val="0"/>
                        </a:spcAft>
                        <a:buNone/>
                      </a:pPr>
                      <a:r>
                        <a:rPr lang="pt-BR" sz="2800"/>
                        <a:t>color: black;</a:t>
                      </a:r>
                      <a:endParaRPr sz="2200"/>
                    </a:p>
                  </a:txBody>
                  <a:tcPr marT="45725" marB="45725" marR="91450" marL="91450"/>
                </a:tc>
              </a:tr>
              <a:tr h="609000">
                <a:tc>
                  <a:txBody>
                    <a:bodyPr/>
                    <a:lstStyle/>
                    <a:p>
                      <a:pPr indent="0" lvl="0" marL="0" marR="0" rtl="0" algn="l">
                        <a:spcBef>
                          <a:spcPts val="0"/>
                        </a:spcBef>
                        <a:spcAft>
                          <a:spcPts val="0"/>
                        </a:spcAft>
                        <a:buNone/>
                      </a:pPr>
                      <a:r>
                        <a:rPr lang="pt-BR" sz="2800"/>
                        <a:t>background</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red, green, black, orange...</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background: red;</a:t>
                      </a:r>
                      <a:endParaRPr sz="2200"/>
                    </a:p>
                  </a:txBody>
                  <a:tcPr marT="45725" marB="45725" marR="91450" marL="91450"/>
                </a:tc>
              </a:tr>
              <a:tr h="609000">
                <a:tc>
                  <a:txBody>
                    <a:bodyPr/>
                    <a:lstStyle/>
                    <a:p>
                      <a:pPr indent="0" lvl="0" marL="0" marR="0" rtl="0" algn="l">
                        <a:spcBef>
                          <a:spcPts val="0"/>
                        </a:spcBef>
                        <a:spcAft>
                          <a:spcPts val="0"/>
                        </a:spcAft>
                        <a:buNone/>
                      </a:pPr>
                      <a:r>
                        <a:rPr lang="pt-BR" sz="2800"/>
                        <a:t>margin</a:t>
                      </a:r>
                      <a:endParaRPr sz="28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Use 1px, 2px, 2.4px 100px...</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margin: 2px;</a:t>
                      </a:r>
                      <a:endParaRPr sz="2200"/>
                    </a:p>
                  </a:txBody>
                  <a:tcPr marT="45725" marB="45725" marR="91450" marL="91450"/>
                </a:tc>
              </a:tr>
              <a:tr h="609000">
                <a:tc>
                  <a:txBody>
                    <a:bodyPr/>
                    <a:lstStyle/>
                    <a:p>
                      <a:pPr indent="0" lvl="0" marL="0" marR="0" rtl="0" algn="l">
                        <a:spcBef>
                          <a:spcPts val="0"/>
                        </a:spcBef>
                        <a:spcAft>
                          <a:spcPts val="0"/>
                        </a:spcAft>
                        <a:buNone/>
                      </a:pPr>
                      <a:r>
                        <a:rPr lang="pt-BR" sz="2800"/>
                        <a:t>Border</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Solid 0-9px, dotted 0-9px ...</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border: solid 1px;</a:t>
                      </a:r>
                      <a:endParaRPr sz="2200"/>
                    </a:p>
                  </a:txBody>
                  <a:tcPr marT="45725" marB="45725" marR="91450" marL="91450"/>
                </a:tc>
              </a:tr>
              <a:tr h="609000">
                <a:tc>
                  <a:txBody>
                    <a:bodyPr/>
                    <a:lstStyle/>
                    <a:p>
                      <a:pPr indent="0" lvl="0" marL="0" marR="0" rtl="0" algn="l">
                        <a:spcBef>
                          <a:spcPts val="0"/>
                        </a:spcBef>
                        <a:spcAft>
                          <a:spcPts val="0"/>
                        </a:spcAft>
                        <a:buNone/>
                      </a:pPr>
                      <a:r>
                        <a:rPr lang="pt-BR" sz="2800"/>
                        <a:t>Padding</a:t>
                      </a:r>
                      <a:endParaRPr sz="28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1px, 2px ... 100px</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padding: 1px;</a:t>
                      </a:r>
                      <a:endParaRPr sz="2200"/>
                    </a:p>
                  </a:txBody>
                  <a:tcPr marT="45725" marB="45725" marR="91450" marL="91450"/>
                </a:tc>
              </a:tr>
              <a:tr h="609000">
                <a:tc>
                  <a:txBody>
                    <a:bodyPr/>
                    <a:lstStyle/>
                    <a:p>
                      <a:pPr indent="0" lvl="0" marL="0" marR="0" rtl="0" algn="l">
                        <a:spcBef>
                          <a:spcPts val="0"/>
                        </a:spcBef>
                        <a:spcAft>
                          <a:spcPts val="0"/>
                        </a:spcAft>
                        <a:buNone/>
                      </a:pPr>
                      <a:r>
                        <a:rPr lang="pt-BR" sz="2800"/>
                        <a:t>Font-size</a:t>
                      </a:r>
                      <a:endParaRPr sz="28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22px, 30px ...</a:t>
                      </a:r>
                      <a:endParaRPr sz="2200"/>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Calibri"/>
                        <a:buNone/>
                      </a:pPr>
                      <a:r>
                        <a:rPr lang="pt-BR" sz="2800"/>
                        <a:t>Font-size: 40px;</a:t>
                      </a:r>
                      <a:endParaRPr sz="2200"/>
                    </a:p>
                  </a:txBody>
                  <a:tcPr marT="45725" marB="45725" marR="91450" marL="91450"/>
                </a:tc>
              </a:tr>
            </a:tbl>
          </a:graphicData>
        </a:graphic>
      </p:graphicFrame>
      <p:sp>
        <p:nvSpPr>
          <p:cNvPr id="151" name="Google Shape;1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52" name="Google Shape;1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Uso básico das propriedades - cores</a:t>
            </a:r>
            <a:endParaRPr/>
          </a:p>
        </p:txBody>
      </p:sp>
      <p:sp>
        <p:nvSpPr>
          <p:cNvPr id="158" name="Google Shape;15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73050" lvl="0" marL="228600" rtl="0" algn="l">
              <a:lnSpc>
                <a:spcPct val="90000"/>
              </a:lnSpc>
              <a:spcBef>
                <a:spcPts val="0"/>
              </a:spcBef>
              <a:spcAft>
                <a:spcPts val="0"/>
              </a:spcAft>
              <a:buClr>
                <a:schemeClr val="dk1"/>
              </a:buClr>
              <a:buSzPts val="3500"/>
              <a:buChar char="•"/>
            </a:pPr>
            <a:r>
              <a:rPr lang="pt-BR" sz="3500"/>
              <a:t>Se quisermos mudar as cores das letras, usando um atributo style, devemos usar a propriedade color separada por ‘:’ dois pontos do código ou nome da cor desejada finalizando com um ‘;’ ponto e v</a:t>
            </a:r>
            <a:r>
              <a:rPr lang="pt-BR" sz="3500"/>
              <a:t>í</a:t>
            </a:r>
            <a:r>
              <a:rPr lang="pt-BR" sz="3500"/>
              <a:t>rgula.</a:t>
            </a:r>
            <a:endParaRPr sz="3500"/>
          </a:p>
          <a:p>
            <a:pPr indent="0" lvl="0" marL="0" rtl="0" algn="l">
              <a:lnSpc>
                <a:spcPct val="90000"/>
              </a:lnSpc>
              <a:spcBef>
                <a:spcPts val="0"/>
              </a:spcBef>
              <a:spcAft>
                <a:spcPts val="0"/>
              </a:spcAft>
              <a:buNone/>
            </a:pPr>
            <a:r>
              <a:t/>
            </a:r>
            <a:endParaRPr sz="3500"/>
          </a:p>
          <a:p>
            <a:pPr indent="-273050" lvl="0" marL="228600" rtl="0" algn="l">
              <a:lnSpc>
                <a:spcPct val="90000"/>
              </a:lnSpc>
              <a:spcBef>
                <a:spcPts val="1000"/>
              </a:spcBef>
              <a:spcAft>
                <a:spcPts val="0"/>
              </a:spcAft>
              <a:buClr>
                <a:schemeClr val="dk1"/>
              </a:buClr>
              <a:buSzPts val="3500"/>
              <a:buChar char="•"/>
            </a:pPr>
            <a:r>
              <a:rPr lang="pt-BR" sz="3500"/>
              <a:t>Exemplo:</a:t>
            </a:r>
            <a:endParaRPr sz="3500"/>
          </a:p>
          <a:p>
            <a:pPr indent="-50800" lvl="0" marL="228600" rtl="0" algn="l">
              <a:lnSpc>
                <a:spcPct val="90000"/>
              </a:lnSpc>
              <a:spcBef>
                <a:spcPts val="1000"/>
              </a:spcBef>
              <a:spcAft>
                <a:spcPts val="0"/>
              </a:spcAft>
              <a:buClr>
                <a:schemeClr val="dk1"/>
              </a:buClr>
              <a:buSzPts val="2800"/>
              <a:buNone/>
            </a:pPr>
            <a:r>
              <a:t/>
            </a:r>
            <a:endParaRPr sz="3500"/>
          </a:p>
          <a:p>
            <a:pPr indent="0" lvl="0" marL="0" rtl="0" algn="l">
              <a:lnSpc>
                <a:spcPct val="90000"/>
              </a:lnSpc>
              <a:spcBef>
                <a:spcPts val="1000"/>
              </a:spcBef>
              <a:spcAft>
                <a:spcPts val="0"/>
              </a:spcAft>
              <a:buClr>
                <a:schemeClr val="dk1"/>
              </a:buClr>
              <a:buSzPts val="2800"/>
              <a:buNone/>
            </a:pPr>
            <a:r>
              <a:t/>
            </a:r>
            <a:endParaRPr sz="3500"/>
          </a:p>
        </p:txBody>
      </p:sp>
      <p:pic>
        <p:nvPicPr>
          <p:cNvPr id="159" name="Google Shape;159;p8"/>
          <p:cNvPicPr preferRelativeResize="0"/>
          <p:nvPr/>
        </p:nvPicPr>
        <p:blipFill rotWithShape="1">
          <a:blip r:embed="rId3">
            <a:alphaModFix/>
          </a:blip>
          <a:srcRect b="0" l="16416" r="0" t="0"/>
          <a:stretch/>
        </p:blipFill>
        <p:spPr>
          <a:xfrm>
            <a:off x="770725" y="5187575"/>
            <a:ext cx="10941100" cy="746950"/>
          </a:xfrm>
          <a:prstGeom prst="rect">
            <a:avLst/>
          </a:prstGeom>
          <a:noFill/>
          <a:ln>
            <a:noFill/>
          </a:ln>
        </p:spPr>
      </p:pic>
      <p:sp>
        <p:nvSpPr>
          <p:cNvPr id="160" name="Google Shape;16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61" name="Google Shape;16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838200" y="60758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Uso básico das propriedades – plano de fundo</a:t>
            </a:r>
            <a:endParaRPr/>
          </a:p>
        </p:txBody>
      </p:sp>
      <p:sp>
        <p:nvSpPr>
          <p:cNvPr id="167" name="Google Shape;167;p9"/>
          <p:cNvSpPr txBox="1"/>
          <p:nvPr>
            <p:ph idx="1" type="body"/>
          </p:nvPr>
        </p:nvSpPr>
        <p:spPr>
          <a:xfrm>
            <a:off x="838200" y="2068080"/>
            <a:ext cx="10515600" cy="4351200"/>
          </a:xfrm>
          <a:prstGeom prst="rect">
            <a:avLst/>
          </a:prstGeom>
          <a:noFill/>
          <a:ln>
            <a:noFill/>
          </a:ln>
        </p:spPr>
        <p:txBody>
          <a:bodyPr anchorCtr="0" anchor="t" bIns="45700" lIns="91425" spcFirstLastPara="1" rIns="91425" wrap="square" tIns="45700">
            <a:normAutofit/>
          </a:bodyPr>
          <a:lstStyle/>
          <a:p>
            <a:pPr indent="-247650" lvl="0" marL="228600" rtl="0" algn="l">
              <a:lnSpc>
                <a:spcPct val="90000"/>
              </a:lnSpc>
              <a:spcBef>
                <a:spcPts val="0"/>
              </a:spcBef>
              <a:spcAft>
                <a:spcPts val="0"/>
              </a:spcAft>
              <a:buClr>
                <a:schemeClr val="dk1"/>
              </a:buClr>
              <a:buSzPts val="3100"/>
              <a:buChar char="•"/>
            </a:pPr>
            <a:r>
              <a:rPr lang="pt-BR" sz="3100"/>
              <a:t>Se quisermos mudar as cores de fundo, usando um atributo style, devemos usar a propriedade background separada por ‘:’ dois pontos do código ou nome da cor desejada finalizando com um ‘;’ ponto e </a:t>
            </a:r>
            <a:r>
              <a:rPr lang="pt-BR" sz="3100"/>
              <a:t>vírgula</a:t>
            </a:r>
            <a:r>
              <a:rPr lang="pt-BR" sz="3100"/>
              <a:t>.</a:t>
            </a:r>
            <a:endParaRPr sz="3100"/>
          </a:p>
          <a:p>
            <a:pPr indent="-247650" lvl="0" marL="228600" rtl="0" algn="l">
              <a:lnSpc>
                <a:spcPct val="90000"/>
              </a:lnSpc>
              <a:spcBef>
                <a:spcPts val="1000"/>
              </a:spcBef>
              <a:spcAft>
                <a:spcPts val="0"/>
              </a:spcAft>
              <a:buClr>
                <a:schemeClr val="dk1"/>
              </a:buClr>
              <a:buSzPts val="3100"/>
              <a:buChar char="•"/>
            </a:pPr>
            <a:r>
              <a:rPr lang="pt-BR" sz="3100"/>
              <a:t>Exemplo:</a:t>
            </a:r>
            <a:endParaRPr sz="3100"/>
          </a:p>
          <a:p>
            <a:pPr indent="-50800" lvl="0" marL="228600" rtl="0" algn="l">
              <a:lnSpc>
                <a:spcPct val="90000"/>
              </a:lnSpc>
              <a:spcBef>
                <a:spcPts val="1000"/>
              </a:spcBef>
              <a:spcAft>
                <a:spcPts val="0"/>
              </a:spcAft>
              <a:buClr>
                <a:schemeClr val="dk1"/>
              </a:buClr>
              <a:buSzPts val="2800"/>
              <a:buNone/>
            </a:pPr>
            <a:r>
              <a:t/>
            </a:r>
            <a:endParaRPr sz="3100"/>
          </a:p>
          <a:p>
            <a:pPr indent="0" lvl="0" marL="0" rtl="0" algn="l">
              <a:lnSpc>
                <a:spcPct val="90000"/>
              </a:lnSpc>
              <a:spcBef>
                <a:spcPts val="1000"/>
              </a:spcBef>
              <a:spcAft>
                <a:spcPts val="0"/>
              </a:spcAft>
              <a:buClr>
                <a:schemeClr val="dk1"/>
              </a:buClr>
              <a:buSzPts val="2800"/>
              <a:buNone/>
            </a:pPr>
            <a:r>
              <a:t/>
            </a:r>
            <a:endParaRPr sz="3100"/>
          </a:p>
        </p:txBody>
      </p:sp>
      <p:pic>
        <p:nvPicPr>
          <p:cNvPr id="168" name="Google Shape;168;p9"/>
          <p:cNvPicPr preferRelativeResize="0"/>
          <p:nvPr/>
        </p:nvPicPr>
        <p:blipFill rotWithShape="1">
          <a:blip r:embed="rId3">
            <a:alphaModFix/>
          </a:blip>
          <a:srcRect b="0" l="14369" r="0" t="0"/>
          <a:stretch/>
        </p:blipFill>
        <p:spPr>
          <a:xfrm>
            <a:off x="474525" y="5326125"/>
            <a:ext cx="11257025" cy="1093150"/>
          </a:xfrm>
          <a:prstGeom prst="rect">
            <a:avLst/>
          </a:prstGeom>
          <a:noFill/>
          <a:ln>
            <a:noFill/>
          </a:ln>
        </p:spPr>
      </p:pic>
      <p:pic>
        <p:nvPicPr>
          <p:cNvPr id="169" name="Google Shape;169;p9"/>
          <p:cNvPicPr preferRelativeResize="0"/>
          <p:nvPr/>
        </p:nvPicPr>
        <p:blipFill rotWithShape="1">
          <a:blip r:embed="rId4">
            <a:alphaModFix/>
          </a:blip>
          <a:srcRect b="0" l="0" r="0" t="0"/>
          <a:stretch/>
        </p:blipFill>
        <p:spPr>
          <a:xfrm>
            <a:off x="8058153" y="4011679"/>
            <a:ext cx="3295650" cy="1314450"/>
          </a:xfrm>
          <a:prstGeom prst="rect">
            <a:avLst/>
          </a:prstGeom>
          <a:noFill/>
          <a:ln>
            <a:noFill/>
          </a:ln>
        </p:spPr>
      </p:pic>
      <p:sp>
        <p:nvSpPr>
          <p:cNvPr id="170" name="Google Shape;17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71" name="Google Shape;17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Uso básico das propriedades – margens</a:t>
            </a:r>
            <a:endParaRPr/>
          </a:p>
        </p:txBody>
      </p:sp>
      <p:sp>
        <p:nvSpPr>
          <p:cNvPr id="177" name="Google Shape;177;p10"/>
          <p:cNvSpPr txBox="1"/>
          <p:nvPr>
            <p:ph idx="1" type="body"/>
          </p:nvPr>
        </p:nvSpPr>
        <p:spPr>
          <a:xfrm>
            <a:off x="838200" y="1825625"/>
            <a:ext cx="7106400" cy="4351200"/>
          </a:xfrm>
          <a:prstGeom prst="rect">
            <a:avLst/>
          </a:prstGeom>
          <a:noFill/>
          <a:ln>
            <a:noFill/>
          </a:ln>
        </p:spPr>
        <p:txBody>
          <a:bodyPr anchorCtr="0" anchor="t" bIns="45700" lIns="91425" spcFirstLastPara="1" rIns="91425" wrap="square" tIns="45700">
            <a:noAutofit/>
          </a:bodyPr>
          <a:lstStyle/>
          <a:p>
            <a:pPr indent="-241300" lvl="0" marL="228600" rtl="0" algn="l">
              <a:lnSpc>
                <a:spcPct val="90000"/>
              </a:lnSpc>
              <a:spcBef>
                <a:spcPts val="0"/>
              </a:spcBef>
              <a:spcAft>
                <a:spcPts val="0"/>
              </a:spcAft>
              <a:buClr>
                <a:schemeClr val="dk1"/>
              </a:buClr>
              <a:buSzPts val="3000"/>
              <a:buChar char="•"/>
            </a:pPr>
            <a:r>
              <a:rPr lang="pt-BR" sz="3000"/>
              <a:t>Se quisermos mudar as cores de fundo, usando um atributo style, devemos usar a propriedade margin separada por ‘:’ dois pontos do código ou nome da cor desejada finalizando com um ‘;’ ponto e virgula. Repare no espaçamento entre o título.</a:t>
            </a:r>
            <a:endParaRPr sz="3000"/>
          </a:p>
          <a:p>
            <a:pPr indent="-241300" lvl="0" marL="228600" rtl="0" algn="l">
              <a:lnSpc>
                <a:spcPct val="90000"/>
              </a:lnSpc>
              <a:spcBef>
                <a:spcPts val="1000"/>
              </a:spcBef>
              <a:spcAft>
                <a:spcPts val="0"/>
              </a:spcAft>
              <a:buClr>
                <a:schemeClr val="dk1"/>
              </a:buClr>
              <a:buSzPts val="3000"/>
              <a:buChar char="•"/>
            </a:pPr>
            <a:r>
              <a:rPr lang="pt-BR" sz="3000"/>
              <a:t>Exemplo:</a:t>
            </a:r>
            <a:endParaRPr sz="3000"/>
          </a:p>
          <a:p>
            <a:pPr indent="-50800" lvl="0" marL="228600" rtl="0" algn="l">
              <a:lnSpc>
                <a:spcPct val="90000"/>
              </a:lnSpc>
              <a:spcBef>
                <a:spcPts val="1000"/>
              </a:spcBef>
              <a:spcAft>
                <a:spcPts val="0"/>
              </a:spcAft>
              <a:buClr>
                <a:schemeClr val="dk1"/>
              </a:buClr>
              <a:buSzPts val="2800"/>
              <a:buNone/>
            </a:pPr>
            <a:r>
              <a:t/>
            </a:r>
            <a:endParaRPr sz="3000"/>
          </a:p>
          <a:p>
            <a:pPr indent="0" lvl="0" marL="0" rtl="0" algn="l">
              <a:lnSpc>
                <a:spcPct val="90000"/>
              </a:lnSpc>
              <a:spcBef>
                <a:spcPts val="1000"/>
              </a:spcBef>
              <a:spcAft>
                <a:spcPts val="0"/>
              </a:spcAft>
              <a:buClr>
                <a:schemeClr val="dk1"/>
              </a:buClr>
              <a:buSzPts val="2800"/>
              <a:buNone/>
            </a:pPr>
            <a:r>
              <a:t/>
            </a:r>
            <a:endParaRPr sz="3000"/>
          </a:p>
        </p:txBody>
      </p:sp>
      <p:pic>
        <p:nvPicPr>
          <p:cNvPr id="178" name="Google Shape;178;p10"/>
          <p:cNvPicPr preferRelativeResize="0"/>
          <p:nvPr/>
        </p:nvPicPr>
        <p:blipFill rotWithShape="1">
          <a:blip r:embed="rId3">
            <a:alphaModFix/>
          </a:blip>
          <a:srcRect b="0" l="13435" r="0" t="-12246"/>
          <a:stretch/>
        </p:blipFill>
        <p:spPr>
          <a:xfrm>
            <a:off x="405225" y="5396475"/>
            <a:ext cx="10670100" cy="959875"/>
          </a:xfrm>
          <a:prstGeom prst="rect">
            <a:avLst/>
          </a:prstGeom>
          <a:noFill/>
          <a:ln>
            <a:noFill/>
          </a:ln>
        </p:spPr>
      </p:pic>
      <p:pic>
        <p:nvPicPr>
          <p:cNvPr id="179" name="Google Shape;179;p10"/>
          <p:cNvPicPr preferRelativeResize="0"/>
          <p:nvPr/>
        </p:nvPicPr>
        <p:blipFill rotWithShape="1">
          <a:blip r:embed="rId4">
            <a:alphaModFix/>
          </a:blip>
          <a:srcRect b="0" l="0" r="0" t="0"/>
          <a:stretch/>
        </p:blipFill>
        <p:spPr>
          <a:xfrm>
            <a:off x="8153400" y="2783712"/>
            <a:ext cx="3265125" cy="2435025"/>
          </a:xfrm>
          <a:prstGeom prst="rect">
            <a:avLst/>
          </a:prstGeom>
          <a:noFill/>
          <a:ln>
            <a:noFill/>
          </a:ln>
        </p:spPr>
      </p:pic>
      <p:sp>
        <p:nvSpPr>
          <p:cNvPr id="180" name="Google Shape;18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181" name="Google Shape;18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a13febb96f_0_6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188" name="Google Shape;188;g3a13febb96f_0_64"/>
          <p:cNvSpPr/>
          <p:nvPr/>
        </p:nvSpPr>
        <p:spPr>
          <a:xfrm flipH="1" rot="-5588205">
            <a:off x="548422" y="3147113"/>
            <a:ext cx="2987977" cy="2987977"/>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9" name="Google Shape;189;g3a13febb96f_0_64"/>
          <p:cNvSpPr txBox="1"/>
          <p:nvPr>
            <p:ph idx="4294967295" type="title"/>
          </p:nvPr>
        </p:nvSpPr>
        <p:spPr>
          <a:xfrm>
            <a:off x="838200" y="365125"/>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pt-BR" sz="6000">
                <a:solidFill>
                  <a:schemeClr val="dk1"/>
                </a:solidFill>
                <a:latin typeface="Calibri"/>
                <a:ea typeface="Calibri"/>
                <a:cs typeface="Calibri"/>
                <a:sym typeface="Calibri"/>
              </a:rPr>
              <a:t>Exercício</a:t>
            </a:r>
            <a:endParaRPr/>
          </a:p>
        </p:txBody>
      </p:sp>
      <p:sp>
        <p:nvSpPr>
          <p:cNvPr id="190" name="Google Shape;190;g3a13febb96f_0_64"/>
          <p:cNvSpPr txBox="1"/>
          <p:nvPr>
            <p:ph idx="4294967295" type="body"/>
          </p:nvPr>
        </p:nvSpPr>
        <p:spPr>
          <a:xfrm>
            <a:off x="838200" y="1825625"/>
            <a:ext cx="52452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pt-BR" sz="3900">
                <a:solidFill>
                  <a:schemeClr val="dk1"/>
                </a:solidFill>
                <a:latin typeface="Calibri"/>
                <a:ea typeface="Calibri"/>
                <a:cs typeface="Calibri"/>
                <a:sym typeface="Calibri"/>
              </a:rPr>
              <a:t>Dado a tabela de propriedades CSS no slide anterior deixe o site como na foto.</a:t>
            </a:r>
            <a:endParaRPr sz="4300"/>
          </a:p>
        </p:txBody>
      </p:sp>
      <p:pic>
        <p:nvPicPr>
          <p:cNvPr id="191" name="Google Shape;191;g3a13febb96f_0_64"/>
          <p:cNvPicPr preferRelativeResize="0"/>
          <p:nvPr/>
        </p:nvPicPr>
        <p:blipFill rotWithShape="1">
          <a:blip r:embed="rId3">
            <a:alphaModFix/>
          </a:blip>
          <a:srcRect b="0" l="0" r="0" t="0"/>
          <a:stretch/>
        </p:blipFill>
        <p:spPr>
          <a:xfrm>
            <a:off x="6417733" y="654567"/>
            <a:ext cx="5163761" cy="5400534"/>
          </a:xfrm>
          <a:custGeom>
            <a:rect b="b" l="l" r="r" t="t"/>
            <a:pathLst>
              <a:path extrusionOk="0" h="5347063" w="4579832">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a:noFill/>
          <a:ln>
            <a:noFill/>
          </a:ln>
        </p:spPr>
      </p:pic>
      <p:sp>
        <p:nvSpPr>
          <p:cNvPr id="192" name="Google Shape;192;g3a13febb96f_0_64"/>
          <p:cNvSpPr/>
          <p:nvPr/>
        </p:nvSpPr>
        <p:spPr>
          <a:xfrm>
            <a:off x="11038584" y="447363"/>
            <a:ext cx="734100" cy="734100"/>
          </a:xfrm>
          <a:prstGeom prst="rect">
            <a:avLst/>
          </a:prstGeom>
          <a:noFill/>
          <a:ln cap="flat" cmpd="sng" w="1270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3" name="Google Shape;193;g3a13febb96f_0_6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a13febb96f_0_5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700"/>
              <a:buFont typeface="Verdana"/>
              <a:buNone/>
            </a:pPr>
            <a:r>
              <a:rPr lang="pt-BR" sz="3700"/>
              <a:t>Em uma tag STYLE dentro do HEAD</a:t>
            </a:r>
            <a:endParaRPr/>
          </a:p>
        </p:txBody>
      </p:sp>
      <p:sp>
        <p:nvSpPr>
          <p:cNvPr id="200" name="Google Shape;200;g3a13febb96f_0_52"/>
          <p:cNvSpPr txBox="1"/>
          <p:nvPr>
            <p:ph idx="1" type="body"/>
          </p:nvPr>
        </p:nvSpPr>
        <p:spPr>
          <a:xfrm>
            <a:off x="838200" y="1825625"/>
            <a:ext cx="5955300" cy="4351200"/>
          </a:xfrm>
          <a:prstGeom prst="rect">
            <a:avLst/>
          </a:prstGeom>
          <a:noFill/>
          <a:ln>
            <a:noFill/>
          </a:ln>
        </p:spPr>
        <p:txBody>
          <a:bodyPr anchorCtr="0" anchor="t" bIns="45700" lIns="91425" spcFirstLastPara="1" rIns="91425" wrap="square" tIns="45700">
            <a:noAutofit/>
          </a:bodyPr>
          <a:lstStyle/>
          <a:p>
            <a:pPr indent="-247650" lvl="0" marL="228600" rtl="0" algn="l">
              <a:lnSpc>
                <a:spcPct val="115000"/>
              </a:lnSpc>
              <a:spcBef>
                <a:spcPts val="0"/>
              </a:spcBef>
              <a:spcAft>
                <a:spcPts val="0"/>
              </a:spcAft>
              <a:buClr>
                <a:schemeClr val="dk1"/>
              </a:buClr>
              <a:buSzPts val="2900"/>
              <a:buChar char="•"/>
            </a:pPr>
            <a:r>
              <a:rPr lang="pt-BR" sz="2900"/>
              <a:t>O HEAD é a primeira tag a ser carregada em uma página, </a:t>
            </a:r>
            <a:r>
              <a:rPr b="1" lang="pt-BR" sz="2900"/>
              <a:t>logo tudo o que está dentro do HEAD </a:t>
            </a:r>
            <a:r>
              <a:rPr lang="pt-BR" sz="2900"/>
              <a:t>será carregado antes do conteúdo visual da página.</a:t>
            </a:r>
            <a:endParaRPr sz="3100"/>
          </a:p>
          <a:p>
            <a:pPr indent="-247650" lvl="0" marL="228600" rtl="0" algn="l">
              <a:lnSpc>
                <a:spcPct val="115000"/>
              </a:lnSpc>
              <a:spcBef>
                <a:spcPts val="1000"/>
              </a:spcBef>
              <a:spcAft>
                <a:spcPts val="0"/>
              </a:spcAft>
              <a:buClr>
                <a:schemeClr val="dk1"/>
              </a:buClr>
              <a:buSzPts val="2900"/>
              <a:buChar char="•"/>
            </a:pPr>
            <a:r>
              <a:rPr lang="pt-BR" sz="2900"/>
              <a:t>Uma tag STYLE é usada para </a:t>
            </a:r>
            <a:r>
              <a:rPr b="1" lang="pt-BR" sz="2900"/>
              <a:t>definir estilos </a:t>
            </a:r>
            <a:r>
              <a:rPr lang="pt-BR" sz="2900"/>
              <a:t>no momento em que a página é carregada.</a:t>
            </a:r>
            <a:endParaRPr sz="3100"/>
          </a:p>
          <a:p>
            <a:pPr indent="-63500" lvl="0" marL="228600" rtl="0" algn="l">
              <a:lnSpc>
                <a:spcPct val="115000"/>
              </a:lnSpc>
              <a:spcBef>
                <a:spcPts val="1000"/>
              </a:spcBef>
              <a:spcAft>
                <a:spcPts val="0"/>
              </a:spcAft>
              <a:buClr>
                <a:schemeClr val="dk1"/>
              </a:buClr>
              <a:buSzPts val="2600"/>
              <a:buNone/>
            </a:pPr>
            <a:r>
              <a:t/>
            </a:r>
            <a:endParaRPr sz="2900"/>
          </a:p>
        </p:txBody>
      </p:sp>
      <p:sp>
        <p:nvSpPr>
          <p:cNvPr id="201" name="Google Shape;201;g3a13febb96f_0_52"/>
          <p:cNvSpPr/>
          <p:nvPr/>
        </p:nvSpPr>
        <p:spPr>
          <a:xfrm>
            <a:off x="10420569" y="1364732"/>
            <a:ext cx="947400" cy="9219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202" name="Google Shape;202;g3a13febb96f_0_52"/>
          <p:cNvPicPr preferRelativeResize="0"/>
          <p:nvPr/>
        </p:nvPicPr>
        <p:blipFill rotWithShape="1">
          <a:blip r:embed="rId3">
            <a:alphaModFix/>
          </a:blip>
          <a:srcRect b="0" l="19023" r="54746" t="0"/>
          <a:stretch/>
        </p:blipFill>
        <p:spPr>
          <a:xfrm>
            <a:off x="7219362" y="2286520"/>
            <a:ext cx="4290741" cy="4130271"/>
          </a:xfrm>
          <a:custGeom>
            <a:rect b="b" l="l" r="r" t="t"/>
            <a:pathLst>
              <a:path extrusionOk="0" h="4130271" w="429074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a:noFill/>
          <a:ln>
            <a:noFill/>
          </a:ln>
        </p:spPr>
      </p:pic>
      <p:sp>
        <p:nvSpPr>
          <p:cNvPr id="203" name="Google Shape;203;g3a13febb96f_0_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Mas como escrever CSS?</a:t>
            </a:r>
            <a:endParaRPr/>
          </a:p>
        </p:txBody>
      </p:sp>
      <p:sp>
        <p:nvSpPr>
          <p:cNvPr id="209" name="Google Shape;20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pt-BR"/>
              <a:t>Diferente do HTML que utiliza tags, o CSS se parece bastante com uma linguagem de programação.</a:t>
            </a:r>
            <a:endParaRPr/>
          </a:p>
          <a:p>
            <a:pPr indent="-228600" lvl="0" marL="228600" rtl="0" algn="l">
              <a:lnSpc>
                <a:spcPct val="90000"/>
              </a:lnSpc>
              <a:spcBef>
                <a:spcPts val="1000"/>
              </a:spcBef>
              <a:spcAft>
                <a:spcPts val="0"/>
              </a:spcAft>
              <a:buClr>
                <a:schemeClr val="dk1"/>
              </a:buClr>
              <a:buSzPts val="2800"/>
              <a:buChar char="•"/>
            </a:pPr>
            <a:r>
              <a:rPr lang="pt-BR"/>
              <a:t>Para ser mais exato com a linguagem C.</a:t>
            </a:r>
            <a:endParaRPr/>
          </a:p>
          <a:p>
            <a:pPr indent="-228600" lvl="0" marL="228600" rtl="0" algn="l">
              <a:lnSpc>
                <a:spcPct val="90000"/>
              </a:lnSpc>
              <a:spcBef>
                <a:spcPts val="1000"/>
              </a:spcBef>
              <a:spcAft>
                <a:spcPts val="0"/>
              </a:spcAft>
              <a:buClr>
                <a:schemeClr val="dk1"/>
              </a:buClr>
              <a:buSzPts val="2800"/>
              <a:buChar char="•"/>
            </a:pPr>
            <a:r>
              <a:rPr lang="pt-BR"/>
              <a:t>Porém sem estruturas de repetição, decisão e variáveis.</a:t>
            </a:r>
            <a:endParaRPr/>
          </a:p>
        </p:txBody>
      </p:sp>
      <p:pic>
        <p:nvPicPr>
          <p:cNvPr id="210" name="Google Shape;210;p13"/>
          <p:cNvPicPr preferRelativeResize="0"/>
          <p:nvPr/>
        </p:nvPicPr>
        <p:blipFill rotWithShape="1">
          <a:blip r:embed="rId3">
            <a:alphaModFix/>
          </a:blip>
          <a:srcRect b="0" l="0" r="0" t="0"/>
          <a:stretch/>
        </p:blipFill>
        <p:spPr>
          <a:xfrm>
            <a:off x="1216049" y="3732850"/>
            <a:ext cx="7869399" cy="2579050"/>
          </a:xfrm>
          <a:prstGeom prst="rect">
            <a:avLst/>
          </a:prstGeom>
          <a:noFill/>
          <a:ln>
            <a:noFill/>
          </a:ln>
        </p:spPr>
      </p:pic>
      <p:sp>
        <p:nvSpPr>
          <p:cNvPr id="211" name="Google Shape;21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212" name="Google Shape;21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a13febb96f_0_7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grpSp>
        <p:nvGrpSpPr>
          <p:cNvPr id="219" name="Google Shape;219;g3a13febb96f_0_77"/>
          <p:cNvGrpSpPr/>
          <p:nvPr/>
        </p:nvGrpSpPr>
        <p:grpSpPr>
          <a:xfrm>
            <a:off x="82" y="1062849"/>
            <a:ext cx="731548" cy="673456"/>
            <a:chOff x="3940602" y="308034"/>
            <a:chExt cx="2116748" cy="3429000"/>
          </a:xfrm>
        </p:grpSpPr>
        <p:sp>
          <p:nvSpPr>
            <p:cNvPr id="220" name="Google Shape;220;g3a13febb96f_0_77"/>
            <p:cNvSpPr/>
            <p:nvPr/>
          </p:nvSpPr>
          <p:spPr>
            <a:xfrm>
              <a:off x="3940602"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g3a13febb96f_0_77"/>
            <p:cNvSpPr/>
            <p:nvPr/>
          </p:nvSpPr>
          <p:spPr>
            <a:xfrm>
              <a:off x="4715626"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g3a13febb96f_0_77"/>
            <p:cNvSpPr/>
            <p:nvPr/>
          </p:nvSpPr>
          <p:spPr>
            <a:xfrm>
              <a:off x="5490650"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23" name="Google Shape;223;g3a13febb96f_0_77"/>
          <p:cNvSpPr/>
          <p:nvPr/>
        </p:nvSpPr>
        <p:spPr>
          <a:xfrm>
            <a:off x="640080" y="656150"/>
            <a:ext cx="5590800" cy="1431600"/>
          </a:xfrm>
          <a:prstGeom prst="rect">
            <a:avLst/>
          </a:prstGeom>
          <a:solidFill>
            <a:schemeClr val="lt1"/>
          </a:solidFill>
          <a:ln>
            <a:noFill/>
          </a:ln>
          <a:effectLst>
            <a:outerShdw blurRad="139700" rotWithShape="0" algn="t" dir="5400000" dist="127000">
              <a:srgbClr val="000000">
                <a:alpha val="1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4" name="Google Shape;224;g3a13febb96f_0_77"/>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pt-BR" sz="3300">
                <a:latin typeface="Calibri"/>
                <a:ea typeface="Calibri"/>
                <a:cs typeface="Calibri"/>
                <a:sym typeface="Calibri"/>
              </a:rPr>
              <a:t>Como escrever CSS - Sintaxe</a:t>
            </a:r>
            <a:endParaRPr/>
          </a:p>
        </p:txBody>
      </p:sp>
      <p:sp>
        <p:nvSpPr>
          <p:cNvPr id="225" name="Google Shape;225;g3a13febb96f_0_77"/>
          <p:cNvSpPr txBox="1"/>
          <p:nvPr>
            <p:ph idx="4294967295" type="body"/>
          </p:nvPr>
        </p:nvSpPr>
        <p:spPr>
          <a:xfrm>
            <a:off x="835275" y="1576800"/>
            <a:ext cx="5695500" cy="3704400"/>
          </a:xfrm>
          <a:prstGeom prst="rect">
            <a:avLst/>
          </a:prstGeom>
          <a:noFill/>
          <a:ln>
            <a:noFill/>
          </a:ln>
        </p:spPr>
        <p:txBody>
          <a:bodyPr anchorCtr="0" anchor="ctr" bIns="45700" lIns="91425" spcFirstLastPara="1" rIns="91425" wrap="square" tIns="45700">
            <a:normAutofit/>
          </a:bodyPr>
          <a:lstStyle/>
          <a:p>
            <a:pPr indent="-266700" lvl="0" marL="228600" rtl="0" algn="l">
              <a:lnSpc>
                <a:spcPct val="90000"/>
              </a:lnSpc>
              <a:spcBef>
                <a:spcPts val="0"/>
              </a:spcBef>
              <a:spcAft>
                <a:spcPts val="0"/>
              </a:spcAft>
              <a:buClr>
                <a:schemeClr val="dk1"/>
              </a:buClr>
              <a:buSzPts val="3000"/>
              <a:buChar char="•"/>
            </a:pPr>
            <a:r>
              <a:rPr lang="pt-BR" sz="3000"/>
              <a:t>Repare que o exemplo acima é equivalente ao de baixo.</a:t>
            </a:r>
            <a:endParaRPr sz="3000"/>
          </a:p>
          <a:p>
            <a:pPr indent="-266700" lvl="0" marL="228600" rtl="0" algn="l">
              <a:lnSpc>
                <a:spcPct val="90000"/>
              </a:lnSpc>
              <a:spcBef>
                <a:spcPts val="1000"/>
              </a:spcBef>
              <a:spcAft>
                <a:spcPts val="0"/>
              </a:spcAft>
              <a:buClr>
                <a:schemeClr val="dk1"/>
              </a:buClr>
              <a:buSzPts val="3000"/>
              <a:buChar char="•"/>
            </a:pPr>
            <a:r>
              <a:rPr lang="pt-BR" sz="3000"/>
              <a:t>Ao invés de usar um atributo style diretamente na tag.</a:t>
            </a:r>
            <a:endParaRPr sz="3000"/>
          </a:p>
          <a:p>
            <a:pPr indent="-266700" lvl="0" marL="228600" rtl="0" algn="l">
              <a:lnSpc>
                <a:spcPct val="90000"/>
              </a:lnSpc>
              <a:spcBef>
                <a:spcPts val="1000"/>
              </a:spcBef>
              <a:spcAft>
                <a:spcPts val="0"/>
              </a:spcAft>
              <a:buClr>
                <a:schemeClr val="dk1"/>
              </a:buClr>
              <a:buSzPts val="3000"/>
              <a:buChar char="•"/>
            </a:pPr>
            <a:r>
              <a:rPr lang="pt-BR" sz="3000"/>
              <a:t>Referencia-se a mesma no Código CSS com suas declarações.</a:t>
            </a:r>
            <a:endParaRPr sz="3000"/>
          </a:p>
        </p:txBody>
      </p:sp>
      <p:sp>
        <p:nvSpPr>
          <p:cNvPr id="226" name="Google Shape;226;g3a13febb96f_0_77"/>
          <p:cNvSpPr/>
          <p:nvPr/>
        </p:nvSpPr>
        <p:spPr>
          <a:xfrm>
            <a:off x="6634418" y="658367"/>
            <a:ext cx="4719300" cy="2679300"/>
          </a:xfrm>
          <a:prstGeom prst="rect">
            <a:avLst/>
          </a:prstGeom>
          <a:solidFill>
            <a:schemeClr val="lt1"/>
          </a:solidFill>
          <a:ln>
            <a:noFill/>
          </a:ln>
          <a:effectLst>
            <a:outerShdw blurRad="139700" rotWithShape="0" algn="t" dir="5400000" dist="127000">
              <a:srgbClr val="000000">
                <a:alpha val="1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CSS: o que é, guia sobre como usar e vantagens! – Insights para te ajudar  na carreira em tecnologia | Blog da Trybe" id="227" name="Google Shape;227;g3a13febb96f_0_77"/>
          <p:cNvPicPr preferRelativeResize="0"/>
          <p:nvPr/>
        </p:nvPicPr>
        <p:blipFill rotWithShape="1">
          <a:blip r:embed="rId3">
            <a:alphaModFix/>
          </a:blip>
          <a:srcRect b="0" l="0" r="0" t="0"/>
          <a:stretch/>
        </p:blipFill>
        <p:spPr>
          <a:xfrm>
            <a:off x="6634425" y="1470551"/>
            <a:ext cx="4821100" cy="3318700"/>
          </a:xfrm>
          <a:prstGeom prst="rect">
            <a:avLst/>
          </a:prstGeom>
          <a:noFill/>
          <a:ln>
            <a:noFill/>
          </a:ln>
        </p:spPr>
      </p:pic>
      <p:pic>
        <p:nvPicPr>
          <p:cNvPr id="228" name="Google Shape;228;g3a13febb96f_0_77"/>
          <p:cNvPicPr preferRelativeResize="0"/>
          <p:nvPr/>
        </p:nvPicPr>
        <p:blipFill rotWithShape="1">
          <a:blip r:embed="rId4">
            <a:alphaModFix/>
          </a:blip>
          <a:srcRect b="0" l="15376" r="0" t="0"/>
          <a:stretch/>
        </p:blipFill>
        <p:spPr>
          <a:xfrm>
            <a:off x="835275" y="5030647"/>
            <a:ext cx="10144124" cy="1325700"/>
          </a:xfrm>
          <a:prstGeom prst="rect">
            <a:avLst/>
          </a:prstGeom>
          <a:noFill/>
          <a:ln>
            <a:noFill/>
          </a:ln>
        </p:spPr>
      </p:pic>
      <p:cxnSp>
        <p:nvCxnSpPr>
          <p:cNvPr id="229" name="Google Shape;229;g3a13febb96f_0_77"/>
          <p:cNvCxnSpPr/>
          <p:nvPr/>
        </p:nvCxnSpPr>
        <p:spPr>
          <a:xfrm rot="10800000">
            <a:off x="838200" y="6492240"/>
            <a:ext cx="10515600" cy="0"/>
          </a:xfrm>
          <a:prstGeom prst="straightConnector1">
            <a:avLst/>
          </a:prstGeom>
          <a:noFill/>
          <a:ln cap="flat" cmpd="sng" w="57150">
            <a:solidFill>
              <a:schemeClr val="accent4"/>
            </a:solidFill>
            <a:prstDash val="solid"/>
            <a:miter lim="800000"/>
            <a:headEnd len="sm" w="sm" type="none"/>
            <a:tailEnd len="sm" w="sm" type="none"/>
          </a:ln>
        </p:spPr>
      </p:cxnSp>
      <p:sp>
        <p:nvSpPr>
          <p:cNvPr id="230" name="Google Shape;230;g3a13febb96f_0_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escrever CSS - Sintaxe</a:t>
            </a:r>
            <a:endParaRPr/>
          </a:p>
        </p:txBody>
      </p:sp>
      <p:sp>
        <p:nvSpPr>
          <p:cNvPr id="236" name="Google Shape;236;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pt-BR"/>
              <a:t>SELETOR</a:t>
            </a:r>
            <a:endParaRPr/>
          </a:p>
          <a:p>
            <a:pPr indent="-228600" lvl="0" marL="228600" rtl="0" algn="l">
              <a:lnSpc>
                <a:spcPct val="90000"/>
              </a:lnSpc>
              <a:spcBef>
                <a:spcPts val="1000"/>
              </a:spcBef>
              <a:spcAft>
                <a:spcPts val="0"/>
              </a:spcAft>
              <a:buClr>
                <a:schemeClr val="dk1"/>
              </a:buClr>
              <a:buSzPts val="2800"/>
              <a:buChar char="•"/>
            </a:pPr>
            <a:r>
              <a:rPr lang="pt-BR"/>
              <a:t>É o elemento HTML que se deseja definir.</a:t>
            </a:r>
            <a:endParaRPr/>
          </a:p>
          <a:p>
            <a:pPr indent="-228600" lvl="0" marL="228600" rtl="0" algn="l">
              <a:lnSpc>
                <a:spcPct val="90000"/>
              </a:lnSpc>
              <a:spcBef>
                <a:spcPts val="1000"/>
              </a:spcBef>
              <a:spcAft>
                <a:spcPts val="0"/>
              </a:spcAft>
              <a:buClr>
                <a:schemeClr val="dk1"/>
              </a:buClr>
              <a:buSzPts val="2800"/>
              <a:buChar char="•"/>
            </a:pPr>
            <a:r>
              <a:rPr lang="pt-BR"/>
              <a:t>Podem ser uma TAG ou classes definidas nas tags.</a:t>
            </a:r>
            <a:endParaRPr/>
          </a:p>
          <a:p>
            <a:pPr indent="0" lvl="0" marL="0" rtl="0" algn="l">
              <a:lnSpc>
                <a:spcPct val="90000"/>
              </a:lnSpc>
              <a:spcBef>
                <a:spcPts val="1000"/>
              </a:spcBef>
              <a:spcAft>
                <a:spcPts val="0"/>
              </a:spcAft>
              <a:buClr>
                <a:schemeClr val="dk1"/>
              </a:buClr>
              <a:buSzPts val="2800"/>
              <a:buNone/>
            </a:pPr>
            <a:r>
              <a:rPr b="1" lang="pt-BR"/>
              <a:t>DECLARAÇÃO:</a:t>
            </a:r>
            <a:endParaRPr/>
          </a:p>
          <a:p>
            <a:pPr indent="-228600" lvl="0" marL="228600" rtl="0" algn="l">
              <a:lnSpc>
                <a:spcPct val="90000"/>
              </a:lnSpc>
              <a:spcBef>
                <a:spcPts val="1000"/>
              </a:spcBef>
              <a:spcAft>
                <a:spcPts val="0"/>
              </a:spcAft>
              <a:buClr>
                <a:schemeClr val="dk1"/>
              </a:buClr>
              <a:buSzPts val="2800"/>
              <a:buChar char="•"/>
            </a:pPr>
            <a:r>
              <a:rPr lang="pt-BR"/>
              <a:t>É a propriedade separada do valor por ‘:’</a:t>
            </a:r>
            <a:endParaRPr/>
          </a:p>
          <a:p>
            <a:pPr indent="-228600" lvl="0" marL="228600" rtl="0" algn="l">
              <a:lnSpc>
                <a:spcPct val="90000"/>
              </a:lnSpc>
              <a:spcBef>
                <a:spcPts val="1000"/>
              </a:spcBef>
              <a:spcAft>
                <a:spcPts val="0"/>
              </a:spcAft>
              <a:buClr>
                <a:schemeClr val="dk1"/>
              </a:buClr>
              <a:buSzPts val="2800"/>
              <a:buChar char="•"/>
            </a:pPr>
            <a:r>
              <a:rPr lang="pt-BR"/>
              <a:t>Toda declaração termina com ‘;’</a:t>
            </a:r>
            <a:endParaRPr/>
          </a:p>
          <a:p>
            <a:pPr indent="-228600" lvl="0" marL="228600" rtl="0" algn="l">
              <a:lnSpc>
                <a:spcPct val="90000"/>
              </a:lnSpc>
              <a:spcBef>
                <a:spcPts val="1000"/>
              </a:spcBef>
              <a:spcAft>
                <a:spcPts val="0"/>
              </a:spcAft>
              <a:buClr>
                <a:schemeClr val="dk1"/>
              </a:buClr>
              <a:buSzPts val="2800"/>
              <a:buChar char="•"/>
            </a:pPr>
            <a:r>
              <a:rPr lang="pt-BR"/>
              <a:t>Repare que as declarações dos seletores são escritas entre ‘{}’ chaves.</a:t>
            </a:r>
            <a:endParaRPr/>
          </a:p>
        </p:txBody>
      </p:sp>
      <p:sp>
        <p:nvSpPr>
          <p:cNvPr id="237" name="Google Shape;23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238" name="Google Shape;23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a13febb96f_0_9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245" name="Google Shape;245;g3a13febb96f_0_96"/>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46" name="Google Shape;246;g3a13febb96f_0_96"/>
          <p:cNvPicPr preferRelativeResize="0"/>
          <p:nvPr/>
        </p:nvPicPr>
        <p:blipFill rotWithShape="1">
          <a:blip r:embed="rId3">
            <a:alphaModFix/>
          </a:blip>
          <a:srcRect b="0" l="0" r="0" t="0"/>
          <a:stretch/>
        </p:blipFill>
        <p:spPr>
          <a:xfrm>
            <a:off x="6541053" y="2106499"/>
            <a:ext cx="4777381" cy="2469160"/>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247" name="Google Shape;247;g3a13febb96f_0_96"/>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escrever CSS - Sintaxe</a:t>
            </a:r>
            <a:endParaRPr/>
          </a:p>
        </p:txBody>
      </p:sp>
      <p:sp>
        <p:nvSpPr>
          <p:cNvPr id="248" name="Google Shape;248;g3a13febb96f_0_96"/>
          <p:cNvSpPr txBox="1"/>
          <p:nvPr>
            <p:ph idx="4294967295" type="body"/>
          </p:nvPr>
        </p:nvSpPr>
        <p:spPr>
          <a:xfrm>
            <a:off x="838200" y="1825625"/>
            <a:ext cx="5868600" cy="4351200"/>
          </a:xfrm>
          <a:prstGeom prst="rect">
            <a:avLst/>
          </a:prstGeom>
          <a:noFill/>
          <a:ln>
            <a:noFill/>
          </a:ln>
        </p:spPr>
        <p:txBody>
          <a:bodyPr anchorCtr="0" anchor="t" bIns="45700" lIns="91425" spcFirstLastPara="1" rIns="91425" wrap="square" tIns="45700">
            <a:normAutofit/>
          </a:bodyPr>
          <a:lstStyle/>
          <a:p>
            <a:pPr indent="-260350" lvl="0" marL="228600" rtl="0" algn="l">
              <a:lnSpc>
                <a:spcPct val="90000"/>
              </a:lnSpc>
              <a:spcBef>
                <a:spcPts val="0"/>
              </a:spcBef>
              <a:spcAft>
                <a:spcPts val="0"/>
              </a:spcAft>
              <a:buClr>
                <a:schemeClr val="dk1"/>
              </a:buClr>
              <a:buSzPts val="3100"/>
              <a:buChar char="•"/>
            </a:pPr>
            <a:r>
              <a:rPr lang="pt-BR" sz="3100"/>
              <a:t>A grande vantagem disso é que se quisermos formatar todas as tag’s H1 do nosso site com a fonte 22px, cor vermelha, alinhado ao centro.</a:t>
            </a:r>
            <a:endParaRPr sz="3300"/>
          </a:p>
          <a:p>
            <a:pPr indent="-260350" lvl="0" marL="228600" rtl="0" algn="l">
              <a:lnSpc>
                <a:spcPct val="90000"/>
              </a:lnSpc>
              <a:spcBef>
                <a:spcPts val="1000"/>
              </a:spcBef>
              <a:spcAft>
                <a:spcPts val="0"/>
              </a:spcAft>
              <a:buClr>
                <a:schemeClr val="dk1"/>
              </a:buClr>
              <a:buSzPts val="3100"/>
              <a:buChar char="•"/>
            </a:pPr>
            <a:r>
              <a:rPr lang="pt-BR" sz="3100"/>
              <a:t>Basta somente declarar essa formatação uma única vez ao invés de criar atributos style para cada tag H1 do site.</a:t>
            </a:r>
            <a:endParaRPr sz="3300"/>
          </a:p>
        </p:txBody>
      </p:sp>
      <p:sp>
        <p:nvSpPr>
          <p:cNvPr id="249" name="Google Shape;249;g3a13febb96f_0_96"/>
          <p:cNvSpPr txBox="1"/>
          <p:nvPr/>
        </p:nvSpPr>
        <p:spPr>
          <a:xfrm>
            <a:off x="8055584" y="4886235"/>
            <a:ext cx="14637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1800" u="none" cap="none" strike="noStrike">
                <a:solidFill>
                  <a:srgbClr val="00B050"/>
                </a:solidFill>
                <a:latin typeface="Calibri"/>
                <a:ea typeface="Calibri"/>
                <a:cs typeface="Calibri"/>
                <a:sym typeface="Calibri"/>
              </a:rPr>
              <a:t>Tecle &lt;f5&gt; para atualizar a página do navegador!</a:t>
            </a:r>
            <a:endParaRPr/>
          </a:p>
        </p:txBody>
      </p:sp>
      <p:sp>
        <p:nvSpPr>
          <p:cNvPr id="250" name="Google Shape;250;g3a13febb96f_0_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a13febb96f_0_11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257" name="Google Shape;257;g3a13febb96f_0_111"/>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8" name="Google Shape;258;g3a13febb96f_0_111"/>
          <p:cNvPicPr preferRelativeResize="0"/>
          <p:nvPr/>
        </p:nvPicPr>
        <p:blipFill rotWithShape="1">
          <a:blip r:embed="rId3">
            <a:alphaModFix/>
          </a:blip>
          <a:srcRect b="0" l="0" r="0" t="0"/>
          <a:stretch/>
        </p:blipFill>
        <p:spPr>
          <a:xfrm>
            <a:off x="2829949" y="3361049"/>
            <a:ext cx="6210595" cy="2991211"/>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259" name="Google Shape;259;g3a13febb96f_0_111"/>
          <p:cNvSpPr/>
          <p:nvPr/>
        </p:nvSpPr>
        <p:spPr>
          <a:xfrm>
            <a:off x="4602050" y="650160"/>
            <a:ext cx="2988000" cy="2988000"/>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0" name="Google Shape;260;g3a13febb96f_0_111"/>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escrever CSS - Sintaxe</a:t>
            </a:r>
            <a:endParaRPr/>
          </a:p>
        </p:txBody>
      </p:sp>
      <p:sp>
        <p:nvSpPr>
          <p:cNvPr id="261" name="Google Shape;261;g3a13febb96f_0_111"/>
          <p:cNvSpPr txBox="1"/>
          <p:nvPr>
            <p:ph idx="4294967295" type="body"/>
          </p:nvPr>
        </p:nvSpPr>
        <p:spPr>
          <a:xfrm>
            <a:off x="838200" y="1825625"/>
            <a:ext cx="10891500" cy="2063100"/>
          </a:xfrm>
          <a:prstGeom prst="rect">
            <a:avLst/>
          </a:prstGeom>
          <a:noFill/>
          <a:ln>
            <a:noFill/>
          </a:ln>
        </p:spPr>
        <p:txBody>
          <a:bodyPr anchorCtr="0" anchor="t" bIns="45700" lIns="91425" spcFirstLastPara="1" rIns="91425" wrap="square" tIns="45700">
            <a:normAutofit/>
          </a:bodyPr>
          <a:lstStyle/>
          <a:p>
            <a:pPr indent="-241300" lvl="0" marL="228600" rtl="0" algn="l">
              <a:lnSpc>
                <a:spcPct val="90000"/>
              </a:lnSpc>
              <a:spcBef>
                <a:spcPts val="0"/>
              </a:spcBef>
              <a:spcAft>
                <a:spcPts val="0"/>
              </a:spcAft>
              <a:buClr>
                <a:schemeClr val="dk1"/>
              </a:buClr>
              <a:buSzPts val="2800"/>
              <a:buChar char="•"/>
            </a:pPr>
            <a:r>
              <a:rPr lang="pt-BR"/>
              <a:t>Podemos padronizar qualquer tag que desejarmos com isso.</a:t>
            </a:r>
            <a:endParaRPr sz="3000"/>
          </a:p>
          <a:p>
            <a:pPr indent="-241300" lvl="0" marL="228600" rtl="0" algn="l">
              <a:lnSpc>
                <a:spcPct val="90000"/>
              </a:lnSpc>
              <a:spcBef>
                <a:spcPts val="1000"/>
              </a:spcBef>
              <a:spcAft>
                <a:spcPts val="0"/>
              </a:spcAft>
              <a:buClr>
                <a:schemeClr val="dk1"/>
              </a:buClr>
              <a:buSzPts val="2800"/>
              <a:buChar char="•"/>
            </a:pPr>
            <a:r>
              <a:rPr lang="pt-BR"/>
              <a:t>Se quisermos por exemplo criar um efeito em todas as listas.</a:t>
            </a:r>
            <a:endParaRPr sz="3000"/>
          </a:p>
          <a:p>
            <a:pPr indent="-241300" lvl="0" marL="228600" rtl="0" algn="l">
              <a:lnSpc>
                <a:spcPct val="90000"/>
              </a:lnSpc>
              <a:spcBef>
                <a:spcPts val="1000"/>
              </a:spcBef>
              <a:spcAft>
                <a:spcPts val="0"/>
              </a:spcAft>
              <a:buClr>
                <a:schemeClr val="dk1"/>
              </a:buClr>
              <a:buSzPts val="2800"/>
              <a:buChar char="•"/>
            </a:pPr>
            <a:r>
              <a:rPr lang="pt-BR"/>
              <a:t>Com bordas, plano de fundo e remover os marcadores a esquerda.</a:t>
            </a:r>
            <a:endParaRPr sz="3000"/>
          </a:p>
        </p:txBody>
      </p:sp>
      <p:sp>
        <p:nvSpPr>
          <p:cNvPr id="262" name="Google Shape;262;g3a13febb96f_0_111"/>
          <p:cNvSpPr txBox="1"/>
          <p:nvPr/>
        </p:nvSpPr>
        <p:spPr>
          <a:xfrm>
            <a:off x="9804722" y="3518075"/>
            <a:ext cx="1925100" cy="150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2300">
                <a:solidFill>
                  <a:srgbClr val="00B050"/>
                </a:solidFill>
                <a:latin typeface="Calibri"/>
                <a:ea typeface="Calibri"/>
                <a:cs typeface="Calibri"/>
                <a:sym typeface="Calibri"/>
              </a:rPr>
              <a:t>Tecle &lt;f5&gt; para atualizar a página do navegador!</a:t>
            </a:r>
            <a:endParaRPr sz="1900"/>
          </a:p>
        </p:txBody>
      </p:sp>
      <p:sp>
        <p:nvSpPr>
          <p:cNvPr id="263" name="Google Shape;263;g3a13febb96f_0_1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a13febb96f_0_12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pic>
        <p:nvPicPr>
          <p:cNvPr id="270" name="Google Shape;270;g3a13febb96f_0_124"/>
          <p:cNvPicPr preferRelativeResize="0"/>
          <p:nvPr/>
        </p:nvPicPr>
        <p:blipFill rotWithShape="1">
          <a:blip r:embed="rId3">
            <a:alphaModFix/>
          </a:blip>
          <a:srcRect b="0" l="0" r="0" t="0"/>
          <a:stretch/>
        </p:blipFill>
        <p:spPr>
          <a:xfrm>
            <a:off x="838200" y="2738175"/>
            <a:ext cx="9100911" cy="2977101"/>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271" name="Google Shape;271;g3a13febb96f_0_124"/>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escrever CSS - Sintaxe</a:t>
            </a:r>
            <a:endParaRPr/>
          </a:p>
        </p:txBody>
      </p:sp>
      <p:sp>
        <p:nvSpPr>
          <p:cNvPr id="272" name="Google Shape;272;g3a13febb96f_0_124"/>
          <p:cNvSpPr txBox="1"/>
          <p:nvPr>
            <p:ph idx="4294967295" type="body"/>
          </p:nvPr>
        </p:nvSpPr>
        <p:spPr>
          <a:xfrm>
            <a:off x="676500" y="1690825"/>
            <a:ext cx="10839000" cy="1228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600"/>
              <a:buChar char="•"/>
            </a:pPr>
            <a:r>
              <a:rPr lang="pt-BR" sz="2600"/>
              <a:t>Se precisarmos trabalhar nas tags </a:t>
            </a:r>
            <a:r>
              <a:rPr b="1" lang="pt-BR" sz="2600">
                <a:solidFill>
                  <a:srgbClr val="00B050"/>
                </a:solidFill>
              </a:rPr>
              <a:t>LI</a:t>
            </a:r>
            <a:r>
              <a:rPr lang="pt-BR" sz="2600"/>
              <a:t> de </a:t>
            </a:r>
            <a:r>
              <a:rPr b="1" lang="pt-BR" sz="2600">
                <a:solidFill>
                  <a:srgbClr val="00B050"/>
                </a:solidFill>
              </a:rPr>
              <a:t>UL</a:t>
            </a:r>
            <a:r>
              <a:rPr lang="pt-BR" sz="2600"/>
              <a:t>, podemos combinar os dois seletores.</a:t>
            </a:r>
            <a:endParaRPr/>
          </a:p>
        </p:txBody>
      </p:sp>
      <p:sp>
        <p:nvSpPr>
          <p:cNvPr id="273" name="Google Shape;273;g3a13febb96f_0_124"/>
          <p:cNvSpPr txBox="1"/>
          <p:nvPr/>
        </p:nvSpPr>
        <p:spPr>
          <a:xfrm>
            <a:off x="9250359" y="4878860"/>
            <a:ext cx="14637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rgbClr val="00B050"/>
                </a:solidFill>
                <a:latin typeface="Calibri"/>
                <a:ea typeface="Calibri"/>
                <a:cs typeface="Calibri"/>
                <a:sym typeface="Calibri"/>
              </a:rPr>
              <a:t>Tecle &lt;f5&gt; para atualizar a página do navegador!</a:t>
            </a:r>
            <a:endParaRPr/>
          </a:p>
        </p:txBody>
      </p:sp>
      <p:sp>
        <p:nvSpPr>
          <p:cNvPr id="274" name="Google Shape;274;g3a13febb96f_0_1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a13febb96f_0_13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281" name="Google Shape;281;g3a13febb96f_0_136"/>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g3a13febb96f_0_136"/>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escrever CSS - Sintaxe</a:t>
            </a:r>
            <a:endParaRPr/>
          </a:p>
        </p:txBody>
      </p:sp>
      <p:sp>
        <p:nvSpPr>
          <p:cNvPr id="283" name="Google Shape;283;g3a13febb96f_0_136"/>
          <p:cNvSpPr txBox="1"/>
          <p:nvPr>
            <p:ph idx="4294967295" type="body"/>
          </p:nvPr>
        </p:nvSpPr>
        <p:spPr>
          <a:xfrm>
            <a:off x="838250" y="2174224"/>
            <a:ext cx="10515600" cy="4025100"/>
          </a:xfrm>
          <a:prstGeom prst="rect">
            <a:avLst/>
          </a:prstGeom>
          <a:noFill/>
          <a:ln>
            <a:noFill/>
          </a:ln>
        </p:spPr>
        <p:txBody>
          <a:bodyPr anchorCtr="0" anchor="t" bIns="45700" lIns="91425" spcFirstLastPara="1" rIns="91425" wrap="square" tIns="45700">
            <a:normAutofit/>
          </a:bodyPr>
          <a:lstStyle/>
          <a:p>
            <a:pPr indent="-266700" lvl="0" marL="228600" rtl="0" algn="l">
              <a:lnSpc>
                <a:spcPct val="90000"/>
              </a:lnSpc>
              <a:spcBef>
                <a:spcPts val="0"/>
              </a:spcBef>
              <a:spcAft>
                <a:spcPts val="0"/>
              </a:spcAft>
              <a:buClr>
                <a:schemeClr val="dk1"/>
              </a:buClr>
              <a:buSzPts val="3200"/>
              <a:buChar char="•"/>
            </a:pPr>
            <a:r>
              <a:rPr lang="pt-BR" sz="3200"/>
              <a:t>O documento </a:t>
            </a:r>
            <a:r>
              <a:rPr lang="pt-BR" sz="3200" u="sng">
                <a:solidFill>
                  <a:schemeClr val="hlink"/>
                </a:solidFill>
                <a:hlinkClick r:id="rId3"/>
              </a:rPr>
              <a:t>Tabela de Tags.pdf </a:t>
            </a:r>
            <a:r>
              <a:rPr lang="pt-BR" sz="3200"/>
              <a:t>possui um resumo das tags HTML.</a:t>
            </a:r>
            <a:endParaRPr sz="3400"/>
          </a:p>
          <a:p>
            <a:pPr indent="-266700" lvl="0" marL="228600" rtl="0" algn="l">
              <a:lnSpc>
                <a:spcPct val="90000"/>
              </a:lnSpc>
              <a:spcBef>
                <a:spcPts val="1000"/>
              </a:spcBef>
              <a:spcAft>
                <a:spcPts val="0"/>
              </a:spcAft>
              <a:buClr>
                <a:schemeClr val="dk1"/>
              </a:buClr>
              <a:buSzPts val="3200"/>
              <a:buChar char="•"/>
            </a:pPr>
            <a:r>
              <a:rPr lang="pt-BR" sz="3200"/>
              <a:t>O documento </a:t>
            </a:r>
            <a:r>
              <a:rPr lang="pt-BR" sz="3200" u="sng">
                <a:solidFill>
                  <a:schemeClr val="hlink"/>
                </a:solidFill>
                <a:hlinkClick r:id="rId4"/>
              </a:rPr>
              <a:t>Tabela de CSS.pdf </a:t>
            </a:r>
            <a:r>
              <a:rPr lang="pt-BR" sz="3200"/>
              <a:t>possui um resumo dos seletores e propriedades.</a:t>
            </a:r>
            <a:endParaRPr sz="3400"/>
          </a:p>
        </p:txBody>
      </p:sp>
      <p:sp>
        <p:nvSpPr>
          <p:cNvPr id="284" name="Google Shape;284;g3a13febb96f_0_136"/>
          <p:cNvSpPr txBox="1"/>
          <p:nvPr/>
        </p:nvSpPr>
        <p:spPr>
          <a:xfrm>
            <a:off x="3475496" y="6023174"/>
            <a:ext cx="6724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rgbClr val="00B050"/>
                </a:solidFill>
                <a:latin typeface="Calibri"/>
                <a:ea typeface="Calibri"/>
                <a:cs typeface="Calibri"/>
                <a:sym typeface="Calibri"/>
              </a:rPr>
              <a:t>Tecle &lt;f5&gt; para atualizar a página do navegador!</a:t>
            </a:r>
            <a:endParaRPr/>
          </a:p>
        </p:txBody>
      </p:sp>
      <p:sp>
        <p:nvSpPr>
          <p:cNvPr id="285" name="Google Shape;285;g3a13febb96f_0_1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DESAFIO!</a:t>
            </a:r>
            <a:endParaRPr/>
          </a:p>
        </p:txBody>
      </p:sp>
      <p:sp>
        <p:nvSpPr>
          <p:cNvPr id="291" name="Google Shape;29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41300" lvl="0" marL="228600" rtl="0" algn="l">
              <a:lnSpc>
                <a:spcPct val="90000"/>
              </a:lnSpc>
              <a:spcBef>
                <a:spcPts val="0"/>
              </a:spcBef>
              <a:spcAft>
                <a:spcPts val="0"/>
              </a:spcAft>
              <a:buClr>
                <a:schemeClr val="dk1"/>
              </a:buClr>
              <a:buSzPts val="3000"/>
              <a:buChar char="•"/>
            </a:pPr>
            <a:r>
              <a:rPr lang="pt-BR" sz="3000"/>
              <a:t>Usando tudo que aprendeu até aqui, crie uma nova página chamada galeria.html.</a:t>
            </a:r>
            <a:endParaRPr sz="3000"/>
          </a:p>
          <a:p>
            <a:pPr indent="-241300" lvl="0" marL="228600" rtl="0" algn="l">
              <a:lnSpc>
                <a:spcPct val="90000"/>
              </a:lnSpc>
              <a:spcBef>
                <a:spcPts val="1000"/>
              </a:spcBef>
              <a:spcAft>
                <a:spcPts val="0"/>
              </a:spcAft>
              <a:buClr>
                <a:schemeClr val="dk1"/>
              </a:buClr>
              <a:buSzPts val="3000"/>
              <a:buChar char="•"/>
            </a:pPr>
            <a:r>
              <a:rPr lang="pt-BR" sz="3000"/>
              <a:t>Combinando as tags ul, li, img e p monte uma simples galeria de imagens e não se esqueça do título da página com h1.</a:t>
            </a:r>
            <a:endParaRPr sz="3000"/>
          </a:p>
          <a:p>
            <a:pPr indent="-241300" lvl="0" marL="228600" rtl="0" algn="l">
              <a:lnSpc>
                <a:spcPct val="90000"/>
              </a:lnSpc>
              <a:spcBef>
                <a:spcPts val="1000"/>
              </a:spcBef>
              <a:spcAft>
                <a:spcPts val="0"/>
              </a:spcAft>
              <a:buClr>
                <a:schemeClr val="dk1"/>
              </a:buClr>
              <a:buSzPts val="3000"/>
              <a:buChar char="•"/>
            </a:pPr>
            <a:r>
              <a:rPr lang="pt-BR" sz="3000"/>
              <a:t>Remova os marcadores da esquerda e padronize o tamanho das imagens em 100px e alinhe tudo ao centro.</a:t>
            </a:r>
            <a:endParaRPr sz="3000"/>
          </a:p>
          <a:p>
            <a:pPr indent="-241300" lvl="0" marL="228600" rtl="0" algn="l">
              <a:lnSpc>
                <a:spcPct val="90000"/>
              </a:lnSpc>
              <a:spcBef>
                <a:spcPts val="1000"/>
              </a:spcBef>
              <a:spcAft>
                <a:spcPts val="0"/>
              </a:spcAft>
              <a:buClr>
                <a:schemeClr val="dk1"/>
              </a:buClr>
              <a:buSzPts val="3000"/>
              <a:buChar char="•"/>
            </a:pPr>
            <a:r>
              <a:rPr lang="pt-BR" sz="3000"/>
              <a:t>Coloque um plano de fundo bem suave em cada li deixando uma margem de respiro.</a:t>
            </a:r>
            <a:endParaRPr sz="3000"/>
          </a:p>
        </p:txBody>
      </p:sp>
      <p:sp>
        <p:nvSpPr>
          <p:cNvPr id="292" name="Google Shape;29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DESAFIO!</a:t>
            </a:r>
            <a:endParaRPr/>
          </a:p>
        </p:txBody>
      </p:sp>
      <p:pic>
        <p:nvPicPr>
          <p:cNvPr id="298" name="Google Shape;298;p21"/>
          <p:cNvPicPr preferRelativeResize="0"/>
          <p:nvPr>
            <p:ph idx="1" type="body"/>
          </p:nvPr>
        </p:nvPicPr>
        <p:blipFill rotWithShape="1">
          <a:blip r:embed="rId3">
            <a:alphaModFix/>
          </a:blip>
          <a:srcRect b="0" l="0" r="0" t="0"/>
          <a:stretch/>
        </p:blipFill>
        <p:spPr>
          <a:xfrm>
            <a:off x="838200" y="1825625"/>
            <a:ext cx="10515600" cy="4351200"/>
          </a:xfrm>
          <a:prstGeom prst="rect">
            <a:avLst/>
          </a:prstGeom>
          <a:noFill/>
          <a:ln>
            <a:noFill/>
          </a:ln>
        </p:spPr>
      </p:pic>
      <p:sp>
        <p:nvSpPr>
          <p:cNvPr id="299" name="Google Shape;29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a13febb96f_0_14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06" name="Google Shape;306;g3a13febb96f_0_149"/>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Verdana"/>
              <a:buNone/>
            </a:pPr>
            <a:r>
              <a:rPr lang="pt-BR" sz="4000"/>
              <a:t>Arquivos de estilos</a:t>
            </a:r>
            <a:endParaRPr/>
          </a:p>
        </p:txBody>
      </p:sp>
      <p:grpSp>
        <p:nvGrpSpPr>
          <p:cNvPr id="307" name="Google Shape;307;g3a13febb96f_0_149"/>
          <p:cNvGrpSpPr/>
          <p:nvPr/>
        </p:nvGrpSpPr>
        <p:grpSpPr>
          <a:xfrm>
            <a:off x="0" y="1083484"/>
            <a:ext cx="355241" cy="673500"/>
            <a:chOff x="0" y="823811"/>
            <a:chExt cx="355241" cy="673500"/>
          </a:xfrm>
        </p:grpSpPr>
        <p:sp>
          <p:nvSpPr>
            <p:cNvPr id="308" name="Google Shape;308;g3a13febb96f_0_149"/>
            <p:cNvSpPr/>
            <p:nvPr/>
          </p:nvSpPr>
          <p:spPr>
            <a:xfrm>
              <a:off x="0" y="823811"/>
              <a:ext cx="873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 name="Google Shape;309;g3a13febb96f_0_149"/>
            <p:cNvSpPr/>
            <p:nvPr/>
          </p:nvSpPr>
          <p:spPr>
            <a:xfrm>
              <a:off x="159341" y="823811"/>
              <a:ext cx="1959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10" name="Google Shape;310;g3a13febb96f_0_149"/>
          <p:cNvSpPr/>
          <p:nvPr/>
        </p:nvSpPr>
        <p:spPr>
          <a:xfrm flipH="1">
            <a:off x="664951" y="2123821"/>
            <a:ext cx="4975200" cy="273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g3a13febb96f_0_149"/>
          <p:cNvSpPr txBox="1"/>
          <p:nvPr>
            <p:ph idx="4294967295" type="body"/>
          </p:nvPr>
        </p:nvSpPr>
        <p:spPr>
          <a:xfrm>
            <a:off x="838200" y="1825625"/>
            <a:ext cx="9859500" cy="4351200"/>
          </a:xfrm>
          <a:prstGeom prst="rect">
            <a:avLst/>
          </a:prstGeom>
          <a:noFill/>
          <a:ln>
            <a:noFill/>
          </a:ln>
        </p:spPr>
        <p:txBody>
          <a:bodyPr anchorCtr="0" anchor="ctr" bIns="45700" lIns="91425" spcFirstLastPara="1" rIns="91425" wrap="square" tIns="45700">
            <a:noAutofit/>
          </a:bodyPr>
          <a:lstStyle/>
          <a:p>
            <a:pPr indent="-292100" lvl="0" marL="228600" rtl="0" algn="l">
              <a:lnSpc>
                <a:spcPct val="90000"/>
              </a:lnSpc>
              <a:spcBef>
                <a:spcPts val="0"/>
              </a:spcBef>
              <a:spcAft>
                <a:spcPts val="0"/>
              </a:spcAft>
              <a:buClr>
                <a:schemeClr val="dk1"/>
              </a:buClr>
              <a:buSzPts val="3000"/>
              <a:buChar char="•"/>
            </a:pPr>
            <a:r>
              <a:rPr lang="pt-BR" sz="3000"/>
              <a:t>As duas primeiras formas são úteis porém a medida que o site ganha mais páginas fica inviável criar styles para cada arquivo html e cada tag.</a:t>
            </a:r>
            <a:endParaRPr sz="3000"/>
          </a:p>
          <a:p>
            <a:pPr indent="-292100" lvl="0" marL="228600" rtl="0" algn="l">
              <a:lnSpc>
                <a:spcPct val="90000"/>
              </a:lnSpc>
              <a:spcBef>
                <a:spcPts val="1000"/>
              </a:spcBef>
              <a:spcAft>
                <a:spcPts val="0"/>
              </a:spcAft>
              <a:buClr>
                <a:schemeClr val="dk1"/>
              </a:buClr>
              <a:buSzPts val="3000"/>
              <a:buChar char="•"/>
            </a:pPr>
            <a:r>
              <a:rPr lang="pt-BR" sz="3000"/>
              <a:t>Sem dúvida a melhor forma é criar um arquivo .css e referenciá-lo na página através de uma tag LINK no HEAD.</a:t>
            </a:r>
            <a:endParaRPr sz="3000"/>
          </a:p>
          <a:p>
            <a:pPr indent="-292100" lvl="0" marL="228600" rtl="0" algn="l">
              <a:lnSpc>
                <a:spcPct val="90000"/>
              </a:lnSpc>
              <a:spcBef>
                <a:spcPts val="1000"/>
              </a:spcBef>
              <a:spcAft>
                <a:spcPts val="0"/>
              </a:spcAft>
              <a:buClr>
                <a:schemeClr val="dk1"/>
              </a:buClr>
              <a:buSzPts val="3000"/>
              <a:buChar char="•"/>
            </a:pPr>
            <a:r>
              <a:rPr lang="pt-BR" sz="3000"/>
              <a:t>Dessa forma é possível padronizar estilos que serão reutilizados em todo o site.</a:t>
            </a:r>
            <a:endParaRPr sz="3000"/>
          </a:p>
        </p:txBody>
      </p:sp>
      <p:sp>
        <p:nvSpPr>
          <p:cNvPr id="312" name="Google Shape;312;g3a13febb96f_0_149"/>
          <p:cNvSpPr/>
          <p:nvPr/>
        </p:nvSpPr>
        <p:spPr>
          <a:xfrm flipH="1">
            <a:off x="10697700" y="0"/>
            <a:ext cx="149430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3" name="Google Shape;313;g3a13febb96f_0_149"/>
          <p:cNvPicPr preferRelativeResize="0"/>
          <p:nvPr/>
        </p:nvPicPr>
        <p:blipFill rotWithShape="1">
          <a:blip r:embed="rId3">
            <a:alphaModFix/>
          </a:blip>
          <a:srcRect b="0" l="10370" r="0" t="0"/>
          <a:stretch/>
        </p:blipFill>
        <p:spPr>
          <a:xfrm>
            <a:off x="5518500" y="910650"/>
            <a:ext cx="6176774" cy="1240475"/>
          </a:xfrm>
          <a:prstGeom prst="rect">
            <a:avLst/>
          </a:prstGeom>
          <a:noFill/>
          <a:ln>
            <a:noFill/>
          </a:ln>
        </p:spPr>
      </p:pic>
      <p:pic>
        <p:nvPicPr>
          <p:cNvPr id="314" name="Google Shape;314;g3a13febb96f_0_149"/>
          <p:cNvPicPr preferRelativeResize="0"/>
          <p:nvPr/>
        </p:nvPicPr>
        <p:blipFill rotWithShape="1">
          <a:blip r:embed="rId4">
            <a:alphaModFix/>
          </a:blip>
          <a:srcRect b="0" l="0" r="0" t="0"/>
          <a:stretch/>
        </p:blipFill>
        <p:spPr>
          <a:xfrm>
            <a:off x="9587498" y="5204900"/>
            <a:ext cx="1317000" cy="1021750"/>
          </a:xfrm>
          <a:prstGeom prst="rect">
            <a:avLst/>
          </a:prstGeom>
          <a:noFill/>
          <a:ln>
            <a:noFill/>
          </a:ln>
        </p:spPr>
      </p:pic>
      <p:sp>
        <p:nvSpPr>
          <p:cNvPr id="315" name="Google Shape;315;g3a13febb96f_0_1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a13febb96f_0_16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22" name="Google Shape;322;g3a13febb96f_0_169"/>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Verdana"/>
              <a:buNone/>
            </a:pPr>
            <a:r>
              <a:rPr lang="pt-BR" sz="4000"/>
              <a:t>Arquivos de estilos</a:t>
            </a:r>
            <a:endParaRPr/>
          </a:p>
        </p:txBody>
      </p:sp>
      <p:grpSp>
        <p:nvGrpSpPr>
          <p:cNvPr id="323" name="Google Shape;323;g3a13febb96f_0_169"/>
          <p:cNvGrpSpPr/>
          <p:nvPr/>
        </p:nvGrpSpPr>
        <p:grpSpPr>
          <a:xfrm>
            <a:off x="0" y="1083484"/>
            <a:ext cx="355241" cy="673500"/>
            <a:chOff x="0" y="823811"/>
            <a:chExt cx="355241" cy="673500"/>
          </a:xfrm>
        </p:grpSpPr>
        <p:sp>
          <p:nvSpPr>
            <p:cNvPr id="324" name="Google Shape;324;g3a13febb96f_0_169"/>
            <p:cNvSpPr/>
            <p:nvPr/>
          </p:nvSpPr>
          <p:spPr>
            <a:xfrm>
              <a:off x="0" y="823811"/>
              <a:ext cx="873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g3a13febb96f_0_169"/>
            <p:cNvSpPr/>
            <p:nvPr/>
          </p:nvSpPr>
          <p:spPr>
            <a:xfrm>
              <a:off x="159341" y="823811"/>
              <a:ext cx="1959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26" name="Google Shape;326;g3a13febb96f_0_169"/>
          <p:cNvSpPr/>
          <p:nvPr/>
        </p:nvSpPr>
        <p:spPr>
          <a:xfrm flipH="1">
            <a:off x="664951" y="2123821"/>
            <a:ext cx="4975200" cy="273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g3a13febb96f_0_169"/>
          <p:cNvSpPr txBox="1"/>
          <p:nvPr>
            <p:ph idx="4294967295" type="body"/>
          </p:nvPr>
        </p:nvSpPr>
        <p:spPr>
          <a:xfrm>
            <a:off x="838200" y="1825625"/>
            <a:ext cx="10515600" cy="4351200"/>
          </a:xfrm>
          <a:prstGeom prst="rect">
            <a:avLst/>
          </a:prstGeom>
          <a:noFill/>
          <a:ln>
            <a:noFill/>
          </a:ln>
        </p:spPr>
        <p:txBody>
          <a:bodyPr anchorCtr="0" anchor="ctr" bIns="45700" lIns="91425" spcFirstLastPara="1" rIns="91425" wrap="square" tIns="45700">
            <a:normAutofit/>
          </a:bodyPr>
          <a:lstStyle/>
          <a:p>
            <a:pPr indent="-355600" lvl="0" marL="228600" rtl="0" algn="l">
              <a:lnSpc>
                <a:spcPct val="90000"/>
              </a:lnSpc>
              <a:spcBef>
                <a:spcPts val="0"/>
              </a:spcBef>
              <a:spcAft>
                <a:spcPts val="0"/>
              </a:spcAft>
              <a:buClr>
                <a:schemeClr val="dk1"/>
              </a:buClr>
              <a:buSzPts val="4000"/>
              <a:buChar char="•"/>
            </a:pPr>
            <a:r>
              <a:rPr lang="pt-BR" sz="4000"/>
              <a:t>Podemos criar arquivos com a extensão .css e referenciá-lo na página que desejamos.</a:t>
            </a:r>
            <a:endParaRPr sz="4000"/>
          </a:p>
          <a:p>
            <a:pPr indent="-355600" lvl="0" marL="228600" rtl="0" algn="l">
              <a:lnSpc>
                <a:spcPct val="90000"/>
              </a:lnSpc>
              <a:spcBef>
                <a:spcPts val="1000"/>
              </a:spcBef>
              <a:spcAft>
                <a:spcPts val="0"/>
              </a:spcAft>
              <a:buClr>
                <a:schemeClr val="dk1"/>
              </a:buClr>
              <a:buSzPts val="4000"/>
              <a:buChar char="•"/>
            </a:pPr>
            <a:r>
              <a:rPr lang="pt-BR" sz="4000"/>
              <a:t>Para isso vamos precisar criar uma tag LINK dentro da tag HEAD para carregar esse arquivo.</a:t>
            </a:r>
            <a:endParaRPr sz="4000"/>
          </a:p>
        </p:txBody>
      </p:sp>
      <p:sp>
        <p:nvSpPr>
          <p:cNvPr id="328" name="Google Shape;328;g3a13febb96f_0_1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a13febb96f_0_18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35" name="Google Shape;335;g3a13febb96f_0_187"/>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Criando um arquivo CSS</a:t>
            </a:r>
            <a:endParaRPr/>
          </a:p>
        </p:txBody>
      </p:sp>
      <p:sp>
        <p:nvSpPr>
          <p:cNvPr id="336" name="Google Shape;336;g3a13febb96f_0_187"/>
          <p:cNvSpPr txBox="1"/>
          <p:nvPr>
            <p:ph idx="4294967295" type="body"/>
          </p:nvPr>
        </p:nvSpPr>
        <p:spPr>
          <a:xfrm>
            <a:off x="838200" y="1825625"/>
            <a:ext cx="63015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pt-BR"/>
              <a:t>Crie um novo arquivo no mesmo nível dos arquivos .html chamado estilo.css.</a:t>
            </a:r>
            <a:endParaRPr/>
          </a:p>
          <a:p>
            <a:pPr indent="-228600" lvl="0" marL="228600" rtl="0" algn="l">
              <a:lnSpc>
                <a:spcPct val="90000"/>
              </a:lnSpc>
              <a:spcBef>
                <a:spcPts val="1000"/>
              </a:spcBef>
              <a:spcAft>
                <a:spcPts val="0"/>
              </a:spcAft>
              <a:buClr>
                <a:schemeClr val="dk1"/>
              </a:buClr>
              <a:buSzPts val="2800"/>
              <a:buChar char="•"/>
            </a:pPr>
            <a:r>
              <a:rPr lang="pt-BR"/>
              <a:t>Você deve ver a lista de arquivos como na imagem ao lado.</a:t>
            </a:r>
            <a:endParaRPr/>
          </a:p>
          <a:p>
            <a:pPr indent="-228600" lvl="0" marL="228600" rtl="0" algn="l">
              <a:lnSpc>
                <a:spcPct val="90000"/>
              </a:lnSpc>
              <a:spcBef>
                <a:spcPts val="1000"/>
              </a:spcBef>
              <a:spcAft>
                <a:spcPts val="0"/>
              </a:spcAft>
              <a:buClr>
                <a:schemeClr val="dk1"/>
              </a:buClr>
              <a:buSzPts val="2800"/>
              <a:buChar char="•"/>
            </a:pPr>
            <a:r>
              <a:rPr lang="pt-BR"/>
              <a:t>Vamos Recortar e colar todo o conteúdo de style para esse arquivo.</a:t>
            </a:r>
            <a:endParaRPr/>
          </a:p>
        </p:txBody>
      </p:sp>
      <p:pic>
        <p:nvPicPr>
          <p:cNvPr id="337" name="Google Shape;337;g3a13febb96f_0_187"/>
          <p:cNvPicPr preferRelativeResize="0"/>
          <p:nvPr/>
        </p:nvPicPr>
        <p:blipFill rotWithShape="1">
          <a:blip r:embed="rId3">
            <a:alphaModFix/>
          </a:blip>
          <a:srcRect b="0" l="5541" r="14848" t="0"/>
          <a:stretch/>
        </p:blipFill>
        <p:spPr>
          <a:xfrm>
            <a:off x="7307027" y="1690626"/>
            <a:ext cx="4187832" cy="4187832"/>
          </a:xfrm>
          <a:custGeom>
            <a:rect b="b" l="l" r="r" t="t"/>
            <a:pathLst>
              <a:path extrusionOk="0" h="2663168" w="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338" name="Google Shape;338;g3a13febb96f_0_1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
        <p:nvSpPr>
          <p:cNvPr id="339" name="Google Shape;339;g3a13febb96f_0_187"/>
          <p:cNvSpPr/>
          <p:nvPr/>
        </p:nvSpPr>
        <p:spPr>
          <a:xfrm flipH="1" rot="10389216">
            <a:off x="6261901" y="687872"/>
            <a:ext cx="5471113" cy="5471113"/>
          </a:xfrm>
          <a:prstGeom prst="arc">
            <a:avLst>
              <a:gd fmla="val 16200000" name="adj1"/>
              <a:gd fmla="val 20093138" name="adj2"/>
            </a:avLst>
          </a:prstGeom>
          <a:noFill/>
          <a:ln cap="rnd" cmpd="sng" w="127000">
            <a:solidFill>
              <a:schemeClr val="accent4">
                <a:alpha val="94900"/>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g3a13febb96f_0_187"/>
          <p:cNvSpPr/>
          <p:nvPr/>
        </p:nvSpPr>
        <p:spPr>
          <a:xfrm>
            <a:off x="10248561" y="921125"/>
            <a:ext cx="791100" cy="7695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a13febb96f_0_21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47" name="Google Shape;347;g3a13febb96f_0_213"/>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Texto, Aplicativo&#10;&#10;Descrição gerada automaticamente" id="348" name="Google Shape;348;g3a13febb96f_0_213"/>
          <p:cNvPicPr preferRelativeResize="0"/>
          <p:nvPr/>
        </p:nvPicPr>
        <p:blipFill rotWithShape="1">
          <a:blip r:embed="rId3">
            <a:alphaModFix/>
          </a:blip>
          <a:srcRect b="0" l="2634" r="2634" t="0"/>
          <a:stretch/>
        </p:blipFill>
        <p:spPr>
          <a:xfrm>
            <a:off x="6541053" y="953942"/>
            <a:ext cx="4777381" cy="4783115"/>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349" name="Google Shape;349;g3a13febb96f_0_213"/>
          <p:cNvSpPr/>
          <p:nvPr/>
        </p:nvSpPr>
        <p:spPr>
          <a:xfrm>
            <a:off x="4602050" y="650160"/>
            <a:ext cx="2988000" cy="2988000"/>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g3a13febb96f_0_213"/>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Criando um arquivo CSS</a:t>
            </a:r>
            <a:endParaRPr/>
          </a:p>
        </p:txBody>
      </p:sp>
      <p:sp>
        <p:nvSpPr>
          <p:cNvPr id="351" name="Google Shape;351;g3a13febb96f_0_213"/>
          <p:cNvSpPr txBox="1"/>
          <p:nvPr>
            <p:ph idx="4294967295" type="body"/>
          </p:nvPr>
        </p:nvSpPr>
        <p:spPr>
          <a:xfrm>
            <a:off x="838200" y="1825625"/>
            <a:ext cx="4899000" cy="4351200"/>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0"/>
              </a:spcAft>
              <a:buClr>
                <a:schemeClr val="dk1"/>
              </a:buClr>
              <a:buSzPts val="3200"/>
              <a:buChar char="•"/>
            </a:pPr>
            <a:r>
              <a:rPr lang="pt-BR" sz="3200"/>
              <a:t>Apague as tags style dos arquivos </a:t>
            </a:r>
            <a:r>
              <a:rPr b="1" lang="pt-BR" sz="3200"/>
              <a:t>index.html </a:t>
            </a:r>
            <a:r>
              <a:rPr lang="pt-BR" sz="3200"/>
              <a:t>e </a:t>
            </a:r>
            <a:r>
              <a:rPr b="1" lang="pt-BR" sz="3200"/>
              <a:t>galeria.html</a:t>
            </a:r>
            <a:r>
              <a:rPr lang="pt-BR" sz="3200"/>
              <a:t>.</a:t>
            </a:r>
            <a:endParaRPr sz="3200"/>
          </a:p>
          <a:p>
            <a:pPr indent="-254000" lvl="0" marL="228600" rtl="0" algn="l">
              <a:lnSpc>
                <a:spcPct val="90000"/>
              </a:lnSpc>
              <a:spcBef>
                <a:spcPts val="1000"/>
              </a:spcBef>
              <a:spcAft>
                <a:spcPts val="0"/>
              </a:spcAft>
              <a:buClr>
                <a:schemeClr val="dk1"/>
              </a:buClr>
              <a:buSzPts val="3200"/>
              <a:buChar char="•"/>
            </a:pPr>
            <a:r>
              <a:rPr lang="pt-BR" sz="3200"/>
              <a:t>Seu arquivo estilos.css deve ficar semelhante ao da imagem abaixo.</a:t>
            </a:r>
            <a:endParaRPr sz="3200"/>
          </a:p>
          <a:p>
            <a:pPr indent="-50800" lvl="0" marL="228600" rtl="0" algn="l">
              <a:lnSpc>
                <a:spcPct val="90000"/>
              </a:lnSpc>
              <a:spcBef>
                <a:spcPts val="1000"/>
              </a:spcBef>
              <a:spcAft>
                <a:spcPts val="0"/>
              </a:spcAft>
              <a:buClr>
                <a:schemeClr val="dk1"/>
              </a:buClr>
              <a:buSzPts val="2800"/>
              <a:buNone/>
            </a:pPr>
            <a:r>
              <a:t/>
            </a:r>
            <a:endParaRPr sz="3200"/>
          </a:p>
        </p:txBody>
      </p:sp>
      <p:sp>
        <p:nvSpPr>
          <p:cNvPr id="352" name="Google Shape;352;g3a13febb96f_0_2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
        <p:nvSpPr>
          <p:cNvPr id="353" name="Google Shape;353;g3a13febb96f_0_213"/>
          <p:cNvSpPr txBox="1"/>
          <p:nvPr/>
        </p:nvSpPr>
        <p:spPr>
          <a:xfrm>
            <a:off x="5364147" y="3933887"/>
            <a:ext cx="14637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rgbClr val="00B050"/>
                </a:solidFill>
                <a:latin typeface="Calibri"/>
                <a:ea typeface="Calibri"/>
                <a:cs typeface="Calibri"/>
                <a:sym typeface="Calibri"/>
              </a:rPr>
              <a:t>Tecle &lt;f5&gt; para atualizar a página do navegador!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a13febb96f_0_22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60" name="Google Shape;360;g3a13febb96f_0_228"/>
          <p:cNvSpPr/>
          <p:nvPr/>
        </p:nvSpPr>
        <p:spPr>
          <a:xfrm>
            <a:off x="9519137"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g3a13febb96f_0_228"/>
          <p:cNvSpPr/>
          <p:nvPr/>
        </p:nvSpPr>
        <p:spPr>
          <a:xfrm>
            <a:off x="4602050" y="650160"/>
            <a:ext cx="2988000" cy="2988000"/>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2" name="Google Shape;362;g3a13febb96f_0_228"/>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Criando um arquivo CSS</a:t>
            </a:r>
            <a:endParaRPr/>
          </a:p>
        </p:txBody>
      </p:sp>
      <p:sp>
        <p:nvSpPr>
          <p:cNvPr id="363" name="Google Shape;363;g3a13febb96f_0_228"/>
          <p:cNvSpPr txBox="1"/>
          <p:nvPr>
            <p:ph idx="4294967295" type="body"/>
          </p:nvPr>
        </p:nvSpPr>
        <p:spPr>
          <a:xfrm>
            <a:off x="838200" y="1825625"/>
            <a:ext cx="8379900" cy="4351200"/>
          </a:xfrm>
          <a:prstGeom prst="rect">
            <a:avLst/>
          </a:prstGeom>
          <a:noFill/>
          <a:ln>
            <a:noFill/>
          </a:ln>
        </p:spPr>
        <p:txBody>
          <a:bodyPr anchorCtr="0" anchor="t" bIns="45700" lIns="91425" spcFirstLastPara="1" rIns="91425" wrap="square" tIns="45700">
            <a:normAutofit/>
          </a:bodyPr>
          <a:lstStyle/>
          <a:p>
            <a:pPr indent="-285750" lvl="0" marL="228600" rtl="0" algn="l">
              <a:lnSpc>
                <a:spcPct val="90000"/>
              </a:lnSpc>
              <a:spcBef>
                <a:spcPts val="0"/>
              </a:spcBef>
              <a:spcAft>
                <a:spcPts val="0"/>
              </a:spcAft>
              <a:buClr>
                <a:schemeClr val="dk1"/>
              </a:buClr>
              <a:buSzPts val="3700"/>
              <a:buChar char="•"/>
            </a:pPr>
            <a:r>
              <a:rPr lang="pt-BR" sz="3700"/>
              <a:t>Depois de teclar &lt;F5&gt; é possível ver que todas as formatações sumiram.</a:t>
            </a:r>
            <a:endParaRPr sz="3700"/>
          </a:p>
          <a:p>
            <a:pPr indent="-285750" lvl="0" marL="228600" rtl="0" algn="l">
              <a:lnSpc>
                <a:spcPct val="90000"/>
              </a:lnSpc>
              <a:spcBef>
                <a:spcPts val="1000"/>
              </a:spcBef>
              <a:spcAft>
                <a:spcPts val="0"/>
              </a:spcAft>
              <a:buClr>
                <a:schemeClr val="dk1"/>
              </a:buClr>
              <a:buSzPts val="3700"/>
              <a:buChar char="•"/>
            </a:pPr>
            <a:r>
              <a:rPr lang="pt-BR" sz="3700"/>
              <a:t>Isso se deve por ser necessário definir uma tag link como na imagem ao lado.</a:t>
            </a:r>
            <a:endParaRPr sz="3700"/>
          </a:p>
        </p:txBody>
      </p:sp>
      <p:sp>
        <p:nvSpPr>
          <p:cNvPr id="364" name="Google Shape;364;g3a13febb96f_0_2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
        <p:nvSpPr>
          <p:cNvPr id="365" name="Google Shape;365;g3a13febb96f_0_228"/>
          <p:cNvSpPr txBox="1"/>
          <p:nvPr/>
        </p:nvSpPr>
        <p:spPr>
          <a:xfrm>
            <a:off x="9581702" y="3366635"/>
            <a:ext cx="17721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800">
                <a:solidFill>
                  <a:srgbClr val="00B050"/>
                </a:solidFill>
                <a:latin typeface="Calibri"/>
                <a:ea typeface="Calibri"/>
                <a:cs typeface="Calibri"/>
                <a:sym typeface="Calibri"/>
              </a:rPr>
              <a:t>Tecle &lt;f5&gt; para atualizar a página do navegador!</a:t>
            </a:r>
            <a:endParaRPr/>
          </a:p>
        </p:txBody>
      </p:sp>
      <p:pic>
        <p:nvPicPr>
          <p:cNvPr id="366" name="Google Shape;366;g3a13febb96f_0_228"/>
          <p:cNvPicPr preferRelativeResize="0"/>
          <p:nvPr/>
        </p:nvPicPr>
        <p:blipFill rotWithShape="1">
          <a:blip r:embed="rId3">
            <a:alphaModFix/>
          </a:blip>
          <a:srcRect b="0" l="0" r="0" t="0"/>
          <a:stretch/>
        </p:blipFill>
        <p:spPr>
          <a:xfrm>
            <a:off x="2502143" y="4656930"/>
            <a:ext cx="7600950" cy="1609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Resultado!</a:t>
            </a:r>
            <a:endParaRPr/>
          </a:p>
        </p:txBody>
      </p:sp>
      <p:sp>
        <p:nvSpPr>
          <p:cNvPr id="372" name="Google Shape;372;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73" name="Google Shape;3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pic>
        <p:nvPicPr>
          <p:cNvPr id="374" name="Google Shape;374;p27"/>
          <p:cNvPicPr preferRelativeResize="0"/>
          <p:nvPr/>
        </p:nvPicPr>
        <p:blipFill rotWithShape="1">
          <a:blip r:embed="rId3">
            <a:alphaModFix/>
          </a:blip>
          <a:srcRect b="0" l="0" r="0" t="0"/>
          <a:stretch/>
        </p:blipFill>
        <p:spPr>
          <a:xfrm>
            <a:off x="1441477" y="1825625"/>
            <a:ext cx="8049247" cy="435135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a13febb96f_0_24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81" name="Google Shape;381;g3a13febb96f_0_242"/>
          <p:cNvSpPr txBox="1"/>
          <p:nvPr>
            <p:ph idx="4294967295" type="title"/>
          </p:nvPr>
        </p:nvSpPr>
        <p:spPr>
          <a:xfrm>
            <a:off x="838200" y="365125"/>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Verdana"/>
              <a:buNone/>
            </a:pPr>
            <a:r>
              <a:rPr lang="pt-BR" sz="4800"/>
              <a:t>Criando nossas classes de CSS</a:t>
            </a:r>
            <a:endParaRPr/>
          </a:p>
        </p:txBody>
      </p:sp>
      <p:sp>
        <p:nvSpPr>
          <p:cNvPr id="382" name="Google Shape;382;g3a13febb96f_0_242"/>
          <p:cNvSpPr/>
          <p:nvPr/>
        </p:nvSpPr>
        <p:spPr>
          <a:xfrm rot="10800000">
            <a:off x="-7" y="1998744"/>
            <a:ext cx="11454600" cy="781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g3a13febb96f_0_242"/>
          <p:cNvSpPr/>
          <p:nvPr/>
        </p:nvSpPr>
        <p:spPr>
          <a:xfrm>
            <a:off x="0" y="2203079"/>
            <a:ext cx="11383500" cy="4268100"/>
          </a:xfrm>
          <a:prstGeom prst="rect">
            <a:avLst/>
          </a:prstGeom>
          <a:solidFill>
            <a:schemeClr val="lt1"/>
          </a:solidFill>
          <a:ln>
            <a:noFill/>
          </a:ln>
          <a:effectLst>
            <a:outerShdw blurRad="139700" rotWithShape="0" algn="t" dir="5400000" dist="127000">
              <a:srgbClr val="000000">
                <a:alpha val="1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g3a13febb96f_0_242"/>
          <p:cNvSpPr txBox="1"/>
          <p:nvPr>
            <p:ph idx="4294967295" type="body"/>
          </p:nvPr>
        </p:nvSpPr>
        <p:spPr>
          <a:xfrm>
            <a:off x="4960500" y="1998750"/>
            <a:ext cx="6423000" cy="4351200"/>
          </a:xfrm>
          <a:prstGeom prst="rect">
            <a:avLst/>
          </a:prstGeom>
          <a:noFill/>
          <a:ln>
            <a:noFill/>
          </a:ln>
        </p:spPr>
        <p:txBody>
          <a:bodyPr anchorCtr="0" anchor="ctr" bIns="45700" lIns="91425" spcFirstLastPara="1" rIns="91425" wrap="square" tIns="45700">
            <a:noAutofit/>
          </a:bodyPr>
          <a:lstStyle/>
          <a:p>
            <a:pPr indent="-273050" lvl="0" marL="228600" rtl="0" algn="l">
              <a:lnSpc>
                <a:spcPct val="90000"/>
              </a:lnSpc>
              <a:spcBef>
                <a:spcPts val="0"/>
              </a:spcBef>
              <a:spcAft>
                <a:spcPts val="0"/>
              </a:spcAft>
              <a:buClr>
                <a:schemeClr val="dk1"/>
              </a:buClr>
              <a:buSzPts val="2700"/>
              <a:buChar char="•"/>
            </a:pPr>
            <a:r>
              <a:rPr lang="pt-BR" sz="2700"/>
              <a:t>Se você observar verá que nós definimos um estilo para UL do index.html e outro para UL da galeria.</a:t>
            </a:r>
            <a:endParaRPr sz="2700"/>
          </a:p>
          <a:p>
            <a:pPr indent="-273050" lvl="0" marL="228600" rtl="0" algn="l">
              <a:lnSpc>
                <a:spcPct val="90000"/>
              </a:lnSpc>
              <a:spcBef>
                <a:spcPts val="1000"/>
              </a:spcBef>
              <a:spcAft>
                <a:spcPts val="0"/>
              </a:spcAft>
              <a:buClr>
                <a:srgbClr val="00B050"/>
              </a:buClr>
              <a:buSzPts val="2700"/>
              <a:buChar char="•"/>
            </a:pPr>
            <a:r>
              <a:rPr b="1" lang="pt-BR" sz="2700">
                <a:solidFill>
                  <a:srgbClr val="00B050"/>
                </a:solidFill>
              </a:rPr>
              <a:t>Assim como o HTML o código é interpretado de cima para baixo</a:t>
            </a:r>
            <a:r>
              <a:rPr lang="pt-BR" sz="2700"/>
              <a:t>.</a:t>
            </a:r>
            <a:endParaRPr sz="2700"/>
          </a:p>
          <a:p>
            <a:pPr indent="-273050" lvl="0" marL="228600" rtl="0" algn="l">
              <a:lnSpc>
                <a:spcPct val="90000"/>
              </a:lnSpc>
              <a:spcBef>
                <a:spcPts val="1000"/>
              </a:spcBef>
              <a:spcAft>
                <a:spcPts val="0"/>
              </a:spcAft>
              <a:buClr>
                <a:schemeClr val="accent2"/>
              </a:buClr>
              <a:buSzPts val="2700"/>
              <a:buChar char="•"/>
            </a:pPr>
            <a:r>
              <a:rPr b="1" lang="pt-BR" sz="2700">
                <a:solidFill>
                  <a:schemeClr val="accent2"/>
                </a:solidFill>
              </a:rPr>
              <a:t>Logo, as definições de UL válidas serão as últimas.</a:t>
            </a:r>
            <a:endParaRPr sz="2700"/>
          </a:p>
          <a:p>
            <a:pPr indent="-273050" lvl="0" marL="228600" rtl="0" algn="l">
              <a:lnSpc>
                <a:spcPct val="90000"/>
              </a:lnSpc>
              <a:spcBef>
                <a:spcPts val="1000"/>
              </a:spcBef>
              <a:spcAft>
                <a:spcPts val="0"/>
              </a:spcAft>
              <a:buClr>
                <a:schemeClr val="dk1"/>
              </a:buClr>
              <a:buSzPts val="2700"/>
              <a:buChar char="•"/>
            </a:pPr>
            <a:r>
              <a:rPr lang="pt-BR" sz="2700"/>
              <a:t>Quer dizer que vamos precisar separar nossos componentes.</a:t>
            </a:r>
            <a:endParaRPr sz="2700"/>
          </a:p>
        </p:txBody>
      </p:sp>
      <p:pic>
        <p:nvPicPr>
          <p:cNvPr descr="Texto, Aplicativo&#10;&#10;Descrição gerada automaticamente" id="385" name="Google Shape;385;g3a13febb96f_0_242"/>
          <p:cNvPicPr preferRelativeResize="0"/>
          <p:nvPr/>
        </p:nvPicPr>
        <p:blipFill rotWithShape="1">
          <a:blip r:embed="rId3">
            <a:alphaModFix/>
          </a:blip>
          <a:srcRect b="0" l="2634" r="2634" t="0"/>
          <a:stretch/>
        </p:blipFill>
        <p:spPr>
          <a:xfrm>
            <a:off x="838198" y="2203080"/>
            <a:ext cx="3713695" cy="3714245"/>
          </a:xfrm>
          <a:prstGeom prst="rect">
            <a:avLst/>
          </a:prstGeom>
          <a:noFill/>
          <a:ln>
            <a:noFill/>
          </a:ln>
        </p:spPr>
      </p:pic>
      <p:sp>
        <p:nvSpPr>
          <p:cNvPr id="386" name="Google Shape;386;g3a13febb96f_0_242"/>
          <p:cNvSpPr/>
          <p:nvPr/>
        </p:nvSpPr>
        <p:spPr>
          <a:xfrm rot="5400000">
            <a:off x="11227981" y="2313068"/>
            <a:ext cx="781800" cy="152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a13febb96f_0_25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393" name="Google Shape;393;g3a13febb96f_0_257"/>
          <p:cNvSpPr txBox="1"/>
          <p:nvPr>
            <p:ph idx="4294967295" type="title"/>
          </p:nvPr>
        </p:nvSpPr>
        <p:spPr>
          <a:xfrm>
            <a:off x="838200" y="365125"/>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Verdana"/>
              <a:buNone/>
            </a:pPr>
            <a:r>
              <a:rPr lang="pt-BR" sz="5400"/>
              <a:t>O que são classes?</a:t>
            </a:r>
            <a:endParaRPr/>
          </a:p>
        </p:txBody>
      </p:sp>
      <p:grpSp>
        <p:nvGrpSpPr>
          <p:cNvPr id="394" name="Google Shape;394;g3a13febb96f_0_257"/>
          <p:cNvGrpSpPr/>
          <p:nvPr/>
        </p:nvGrpSpPr>
        <p:grpSpPr>
          <a:xfrm>
            <a:off x="-7" y="1998368"/>
            <a:ext cx="11695088" cy="782176"/>
            <a:chOff x="-7" y="1998368"/>
            <a:chExt cx="11695088" cy="782176"/>
          </a:xfrm>
        </p:grpSpPr>
        <p:sp>
          <p:nvSpPr>
            <p:cNvPr id="395" name="Google Shape;395;g3a13febb96f_0_257"/>
            <p:cNvSpPr/>
            <p:nvPr/>
          </p:nvSpPr>
          <p:spPr>
            <a:xfrm rot="5400000">
              <a:off x="11227981" y="2313068"/>
              <a:ext cx="781800" cy="152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g3a13febb96f_0_257"/>
            <p:cNvSpPr/>
            <p:nvPr/>
          </p:nvSpPr>
          <p:spPr>
            <a:xfrm rot="10800000">
              <a:off x="-7" y="1998744"/>
              <a:ext cx="11454600" cy="781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97" name="Google Shape;397;g3a13febb96f_0_257"/>
          <p:cNvSpPr/>
          <p:nvPr/>
        </p:nvSpPr>
        <p:spPr>
          <a:xfrm>
            <a:off x="0" y="2203079"/>
            <a:ext cx="11383500" cy="4147800"/>
          </a:xfrm>
          <a:prstGeom prst="rect">
            <a:avLst/>
          </a:prstGeom>
          <a:solidFill>
            <a:schemeClr val="lt1"/>
          </a:solidFill>
          <a:ln>
            <a:noFill/>
          </a:ln>
          <a:effectLst>
            <a:outerShdw blurRad="139700" rotWithShape="0" algn="t" dir="5400000" dist="127000">
              <a:srgbClr val="000000">
                <a:alpha val="1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 name="Google Shape;398;g3a13febb96f_0_257"/>
          <p:cNvSpPr txBox="1"/>
          <p:nvPr>
            <p:ph idx="4294967295" type="body"/>
          </p:nvPr>
        </p:nvSpPr>
        <p:spPr>
          <a:xfrm>
            <a:off x="838200" y="1825625"/>
            <a:ext cx="10515600" cy="435120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pt-BR" sz="2400">
                <a:highlight>
                  <a:srgbClr val="FFFF00"/>
                </a:highlight>
              </a:rPr>
              <a:t>Classes são representações de objetos que podemos definir no nosso CSS.</a:t>
            </a:r>
            <a:endParaRPr b="1"/>
          </a:p>
          <a:p>
            <a:pPr indent="-228600" lvl="0" marL="228600" rtl="0" algn="l">
              <a:lnSpc>
                <a:spcPct val="90000"/>
              </a:lnSpc>
              <a:spcBef>
                <a:spcPts val="1000"/>
              </a:spcBef>
              <a:spcAft>
                <a:spcPts val="0"/>
              </a:spcAft>
              <a:buClr>
                <a:schemeClr val="accent2"/>
              </a:buClr>
              <a:buSzPts val="2400"/>
              <a:buChar char="•"/>
            </a:pPr>
            <a:r>
              <a:rPr b="1" lang="pt-BR" sz="2400">
                <a:solidFill>
                  <a:schemeClr val="accent2"/>
                </a:solidFill>
              </a:rPr>
              <a:t>Analogamente ao mundo real temos diversas classes de animais com suas subclasses.</a:t>
            </a:r>
            <a:endParaRPr b="1"/>
          </a:p>
          <a:p>
            <a:pPr indent="-228600" lvl="0" marL="228600" rtl="0" algn="l">
              <a:lnSpc>
                <a:spcPct val="90000"/>
              </a:lnSpc>
              <a:spcBef>
                <a:spcPts val="1000"/>
              </a:spcBef>
              <a:spcAft>
                <a:spcPts val="0"/>
              </a:spcAft>
              <a:buClr>
                <a:schemeClr val="dk1"/>
              </a:buClr>
              <a:buSzPts val="2400"/>
              <a:buChar char="•"/>
            </a:pPr>
            <a:r>
              <a:rPr b="1" lang="pt-BR" sz="2400"/>
              <a:t>Todo pássaro possui bico, asas, penas.</a:t>
            </a:r>
            <a:endParaRPr b="1"/>
          </a:p>
          <a:p>
            <a:pPr indent="-228600" lvl="0" marL="228600" rtl="0" algn="l">
              <a:lnSpc>
                <a:spcPct val="90000"/>
              </a:lnSpc>
              <a:spcBef>
                <a:spcPts val="1000"/>
              </a:spcBef>
              <a:spcAft>
                <a:spcPts val="0"/>
              </a:spcAft>
              <a:buClr>
                <a:schemeClr val="dk1"/>
              </a:buClr>
              <a:buSzPts val="2400"/>
              <a:buChar char="•"/>
            </a:pPr>
            <a:r>
              <a:rPr b="1" lang="pt-BR" sz="2400"/>
              <a:t>Há subclasses de pássaros que voam, outras não.</a:t>
            </a:r>
            <a:endParaRPr b="1"/>
          </a:p>
          <a:p>
            <a:pPr indent="-228600" lvl="0" marL="228600" rtl="0" algn="l">
              <a:lnSpc>
                <a:spcPct val="90000"/>
              </a:lnSpc>
              <a:spcBef>
                <a:spcPts val="1000"/>
              </a:spcBef>
              <a:spcAft>
                <a:spcPts val="0"/>
              </a:spcAft>
              <a:buClr>
                <a:schemeClr val="dk1"/>
              </a:buClr>
              <a:buSzPts val="2400"/>
              <a:buChar char="•"/>
            </a:pPr>
            <a:r>
              <a:rPr b="1" lang="pt-BR" sz="2400"/>
              <a:t>Há subclasses de pássaros que só se alimentam de sementes, outras de animais vivos ou mortos.</a:t>
            </a:r>
            <a:endParaRPr b="1"/>
          </a:p>
        </p:txBody>
      </p:sp>
      <p:sp>
        <p:nvSpPr>
          <p:cNvPr id="399" name="Google Shape;399;g3a13febb96f_0_2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a13febb96f_0_27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406" name="Google Shape;406;g3a13febb96f_0_270"/>
          <p:cNvSpPr txBox="1"/>
          <p:nvPr>
            <p:ph idx="4294967295" type="title"/>
          </p:nvPr>
        </p:nvSpPr>
        <p:spPr>
          <a:xfrm>
            <a:off x="838200" y="365125"/>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Verdana"/>
              <a:buNone/>
            </a:pPr>
            <a:r>
              <a:rPr lang="pt-BR" sz="5400"/>
              <a:t>O que são classes?</a:t>
            </a:r>
            <a:endParaRPr/>
          </a:p>
        </p:txBody>
      </p:sp>
      <p:grpSp>
        <p:nvGrpSpPr>
          <p:cNvPr id="407" name="Google Shape;407;g3a13febb96f_0_270"/>
          <p:cNvGrpSpPr/>
          <p:nvPr/>
        </p:nvGrpSpPr>
        <p:grpSpPr>
          <a:xfrm>
            <a:off x="-7" y="1998368"/>
            <a:ext cx="11695088" cy="782176"/>
            <a:chOff x="-7" y="1998368"/>
            <a:chExt cx="11695088" cy="782176"/>
          </a:xfrm>
        </p:grpSpPr>
        <p:sp>
          <p:nvSpPr>
            <p:cNvPr id="408" name="Google Shape;408;g3a13febb96f_0_270"/>
            <p:cNvSpPr/>
            <p:nvPr/>
          </p:nvSpPr>
          <p:spPr>
            <a:xfrm rot="5400000">
              <a:off x="11227981" y="2313068"/>
              <a:ext cx="781800" cy="152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g3a13febb96f_0_270"/>
            <p:cNvSpPr/>
            <p:nvPr/>
          </p:nvSpPr>
          <p:spPr>
            <a:xfrm rot="10800000">
              <a:off x="-7" y="1998744"/>
              <a:ext cx="11454600" cy="781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10" name="Google Shape;410;g3a13febb96f_0_270"/>
          <p:cNvSpPr/>
          <p:nvPr/>
        </p:nvSpPr>
        <p:spPr>
          <a:xfrm>
            <a:off x="0" y="2203079"/>
            <a:ext cx="11383500" cy="4147800"/>
          </a:xfrm>
          <a:prstGeom prst="rect">
            <a:avLst/>
          </a:prstGeom>
          <a:solidFill>
            <a:schemeClr val="lt1"/>
          </a:solidFill>
          <a:ln>
            <a:noFill/>
          </a:ln>
          <a:effectLst>
            <a:outerShdw blurRad="139700" rotWithShape="0" algn="t" dir="5400000" dist="127000">
              <a:srgbClr val="000000">
                <a:alpha val="1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g3a13febb96f_0_270"/>
          <p:cNvSpPr txBox="1"/>
          <p:nvPr>
            <p:ph idx="4294967295" type="body"/>
          </p:nvPr>
        </p:nvSpPr>
        <p:spPr>
          <a:xfrm>
            <a:off x="838200" y="1825625"/>
            <a:ext cx="10515600" cy="4351200"/>
          </a:xfrm>
          <a:prstGeom prst="rect">
            <a:avLst/>
          </a:prstGeom>
          <a:noFill/>
          <a:ln>
            <a:noFill/>
          </a:ln>
        </p:spPr>
        <p:txBody>
          <a:bodyPr anchorCtr="0" anchor="ctr" bIns="45700" lIns="91425" spcFirstLastPara="1" rIns="91425" wrap="square" tIns="45700">
            <a:normAutofit/>
          </a:bodyPr>
          <a:lstStyle/>
          <a:p>
            <a:pPr indent="-234950" lvl="0" marL="228600" rtl="0" algn="l">
              <a:lnSpc>
                <a:spcPct val="90000"/>
              </a:lnSpc>
              <a:spcBef>
                <a:spcPts val="0"/>
              </a:spcBef>
              <a:spcAft>
                <a:spcPts val="0"/>
              </a:spcAft>
              <a:buClr>
                <a:srgbClr val="9900FF"/>
              </a:buClr>
              <a:buSzPts val="2500"/>
              <a:buChar char="•"/>
            </a:pPr>
            <a:r>
              <a:rPr b="1" lang="pt-BR" sz="2500">
                <a:solidFill>
                  <a:srgbClr val="9900FF"/>
                </a:solidFill>
              </a:rPr>
              <a:t>No CSS classes definem cores, posições, espaçamentos etc.</a:t>
            </a:r>
            <a:endParaRPr b="1" sz="2900">
              <a:solidFill>
                <a:srgbClr val="9900FF"/>
              </a:solidFill>
            </a:endParaRPr>
          </a:p>
          <a:p>
            <a:pPr indent="-234950" lvl="0" marL="228600" rtl="0" algn="l">
              <a:lnSpc>
                <a:spcPct val="90000"/>
              </a:lnSpc>
              <a:spcBef>
                <a:spcPts val="1000"/>
              </a:spcBef>
              <a:spcAft>
                <a:spcPts val="0"/>
              </a:spcAft>
              <a:buClr>
                <a:schemeClr val="dk1"/>
              </a:buClr>
              <a:buSzPts val="2500"/>
              <a:buChar char="•"/>
            </a:pPr>
            <a:r>
              <a:rPr b="1" lang="pt-BR" sz="2500"/>
              <a:t>Como exemplo:</a:t>
            </a:r>
            <a:endParaRPr b="1" sz="2900"/>
          </a:p>
          <a:p>
            <a:pPr indent="-234950" lvl="0" marL="228600" rtl="0" algn="l">
              <a:lnSpc>
                <a:spcPct val="90000"/>
              </a:lnSpc>
              <a:spcBef>
                <a:spcPts val="1000"/>
              </a:spcBef>
              <a:spcAft>
                <a:spcPts val="0"/>
              </a:spcAft>
              <a:buClr>
                <a:srgbClr val="38761D"/>
              </a:buClr>
              <a:buSzPts val="2500"/>
              <a:buChar char="•"/>
            </a:pPr>
            <a:r>
              <a:rPr b="1" lang="pt-BR" sz="2500">
                <a:solidFill>
                  <a:srgbClr val="38761D"/>
                </a:solidFill>
              </a:rPr>
              <a:t>Se quisermos que todos os títulos do site tenham fonte 20pt em negrito, na família de fonte Times New Roman, enquanto parágrafos de texto sejam escritos na fonte 16pt na família Comic Sans Ms.</a:t>
            </a:r>
            <a:endParaRPr b="1" sz="2900">
              <a:solidFill>
                <a:srgbClr val="38761D"/>
              </a:solidFill>
            </a:endParaRPr>
          </a:p>
          <a:p>
            <a:pPr indent="-234950" lvl="0" marL="228600" rtl="0" algn="l">
              <a:lnSpc>
                <a:spcPct val="90000"/>
              </a:lnSpc>
              <a:spcBef>
                <a:spcPts val="1000"/>
              </a:spcBef>
              <a:spcAft>
                <a:spcPts val="0"/>
              </a:spcAft>
              <a:buClr>
                <a:schemeClr val="dk1"/>
              </a:buClr>
              <a:buSzPts val="2500"/>
              <a:buChar char="•"/>
            </a:pPr>
            <a:r>
              <a:rPr b="1" lang="pt-BR" sz="2500"/>
              <a:t>Isso quer dizer que basta apenas indicar o atributo class na tag desejada com o nome da classe respectiva.</a:t>
            </a:r>
            <a:endParaRPr b="1" sz="2900"/>
          </a:p>
        </p:txBody>
      </p:sp>
      <p:sp>
        <p:nvSpPr>
          <p:cNvPr id="412" name="Google Shape;412;g3a13febb96f_0_2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definir uma classe</a:t>
            </a:r>
            <a:endParaRPr/>
          </a:p>
        </p:txBody>
      </p:sp>
      <p:sp>
        <p:nvSpPr>
          <p:cNvPr id="418" name="Google Shape;418;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b="1" lang="pt-BR">
                <a:solidFill>
                  <a:srgbClr val="FF0000"/>
                </a:solidFill>
              </a:rPr>
              <a:t>Primeiramente precisamos saber o que será definido para essa classe, qual será o padrão.</a:t>
            </a:r>
            <a:endParaRPr/>
          </a:p>
          <a:p>
            <a:pPr indent="-228600" lvl="0" marL="228600" rtl="0" algn="l">
              <a:lnSpc>
                <a:spcPct val="90000"/>
              </a:lnSpc>
              <a:spcBef>
                <a:spcPts val="1000"/>
              </a:spcBef>
              <a:spcAft>
                <a:spcPts val="0"/>
              </a:spcAft>
              <a:buClr>
                <a:srgbClr val="00B050"/>
              </a:buClr>
              <a:buSzPts val="2800"/>
              <a:buChar char="•"/>
            </a:pPr>
            <a:r>
              <a:rPr b="1" lang="pt-BR">
                <a:solidFill>
                  <a:srgbClr val="00B050"/>
                </a:solidFill>
              </a:rPr>
              <a:t>Segundo, devemos escolher um nome condizente com esse padrão.</a:t>
            </a:r>
            <a:endParaRPr/>
          </a:p>
          <a:p>
            <a:pPr indent="-228600" lvl="0" marL="228600" rtl="0" algn="l">
              <a:lnSpc>
                <a:spcPct val="90000"/>
              </a:lnSpc>
              <a:spcBef>
                <a:spcPts val="1000"/>
              </a:spcBef>
              <a:spcAft>
                <a:spcPts val="0"/>
              </a:spcAft>
              <a:buClr>
                <a:srgbClr val="002060"/>
              </a:buClr>
              <a:buSzPts val="2800"/>
              <a:buChar char="•"/>
            </a:pPr>
            <a:r>
              <a:rPr b="1" lang="pt-BR">
                <a:solidFill>
                  <a:srgbClr val="002060"/>
                </a:solidFill>
              </a:rPr>
              <a:t>Terceiro escrevemos o seletor com o nome da classe (ao invés do nome da tag) começando com um ‘.’ (ponto).</a:t>
            </a:r>
            <a:endParaRPr/>
          </a:p>
          <a:p>
            <a:pPr indent="-228600" lvl="0" marL="228600" rtl="0" algn="l">
              <a:lnSpc>
                <a:spcPct val="90000"/>
              </a:lnSpc>
              <a:spcBef>
                <a:spcPts val="1000"/>
              </a:spcBef>
              <a:spcAft>
                <a:spcPts val="0"/>
              </a:spcAft>
              <a:buClr>
                <a:schemeClr val="dk1"/>
              </a:buClr>
              <a:buSzPts val="2800"/>
              <a:buChar char="•"/>
            </a:pPr>
            <a:r>
              <a:rPr lang="pt-BR"/>
              <a:t>Logo a classe titulo ficaria:</a:t>
            </a:r>
            <a:endParaRPr/>
          </a:p>
          <a:p>
            <a:pPr indent="0" lvl="0" marL="0" rtl="0" algn="ctr">
              <a:lnSpc>
                <a:spcPct val="90000"/>
              </a:lnSpc>
              <a:spcBef>
                <a:spcPts val="1000"/>
              </a:spcBef>
              <a:spcAft>
                <a:spcPts val="0"/>
              </a:spcAft>
              <a:buClr>
                <a:schemeClr val="accent2"/>
              </a:buClr>
              <a:buSzPts val="2800"/>
              <a:buNone/>
            </a:pPr>
            <a:r>
              <a:rPr b="1" lang="pt-BR">
                <a:solidFill>
                  <a:schemeClr val="accent2"/>
                </a:solidFill>
              </a:rPr>
              <a:t>.titulo {...}</a:t>
            </a:r>
            <a:r>
              <a:rPr lang="pt-BR"/>
              <a:t> </a:t>
            </a:r>
            <a:endParaRPr/>
          </a:p>
        </p:txBody>
      </p:sp>
      <p:sp>
        <p:nvSpPr>
          <p:cNvPr id="419" name="Google Shape;41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a13febb96f_0_28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426" name="Google Shape;426;g3a13febb96f_0_284"/>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definir uma classe</a:t>
            </a:r>
            <a:endParaRPr/>
          </a:p>
        </p:txBody>
      </p:sp>
      <p:sp>
        <p:nvSpPr>
          <p:cNvPr id="427" name="Google Shape;427;g3a13febb96f_0_284"/>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428" name="Google Shape;428;g3a13febb96f_0_284"/>
          <p:cNvPicPr preferRelativeResize="0"/>
          <p:nvPr/>
        </p:nvPicPr>
        <p:blipFill rotWithShape="1">
          <a:blip r:embed="rId3">
            <a:alphaModFix/>
          </a:blip>
          <a:srcRect b="0" l="0" r="0" t="0"/>
          <a:stretch/>
        </p:blipFill>
        <p:spPr>
          <a:xfrm>
            <a:off x="1322143" y="1268769"/>
            <a:ext cx="9918938" cy="2425127"/>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429" name="Google Shape;429;g3a13febb96f_0_284"/>
          <p:cNvSpPr txBox="1"/>
          <p:nvPr>
            <p:ph idx="4294967295" type="body"/>
          </p:nvPr>
        </p:nvSpPr>
        <p:spPr>
          <a:xfrm>
            <a:off x="838200" y="3693888"/>
            <a:ext cx="10515600" cy="2482800"/>
          </a:xfrm>
          <a:prstGeom prst="rect">
            <a:avLst/>
          </a:prstGeom>
          <a:noFill/>
          <a:ln>
            <a:noFill/>
          </a:ln>
        </p:spPr>
        <p:txBody>
          <a:bodyPr anchorCtr="0" anchor="t" bIns="45700" lIns="91425" spcFirstLastPara="1" rIns="91425" wrap="square" tIns="45700">
            <a:noAutofit/>
          </a:bodyPr>
          <a:lstStyle/>
          <a:p>
            <a:pPr indent="-273050" lvl="0" marL="228600" rtl="0" algn="l">
              <a:lnSpc>
                <a:spcPct val="90000"/>
              </a:lnSpc>
              <a:spcBef>
                <a:spcPts val="0"/>
              </a:spcBef>
              <a:spcAft>
                <a:spcPts val="0"/>
              </a:spcAft>
              <a:buClr>
                <a:schemeClr val="dk1"/>
              </a:buClr>
              <a:buSzPts val="2500"/>
              <a:buChar char="•"/>
            </a:pPr>
            <a:r>
              <a:rPr lang="pt-BR" sz="2500"/>
              <a:t>Vamos garantir que todos os títulos do site tenham essas características.</a:t>
            </a:r>
            <a:endParaRPr sz="3500"/>
          </a:p>
          <a:p>
            <a:pPr indent="-273050" lvl="1" marL="685800" rtl="0" algn="l">
              <a:lnSpc>
                <a:spcPct val="90000"/>
              </a:lnSpc>
              <a:spcBef>
                <a:spcPts val="500"/>
              </a:spcBef>
              <a:spcAft>
                <a:spcPts val="0"/>
              </a:spcAft>
              <a:buClr>
                <a:schemeClr val="dk1"/>
              </a:buClr>
              <a:buSzPts val="2500"/>
              <a:buChar char="•"/>
            </a:pPr>
            <a:r>
              <a:rPr lang="pt-BR" sz="2500"/>
              <a:t>Fonte: </a:t>
            </a:r>
            <a:r>
              <a:rPr b="0" lang="pt-BR" sz="2500">
                <a:latin typeface="Consolas"/>
                <a:ea typeface="Consolas"/>
                <a:cs typeface="Consolas"/>
                <a:sym typeface="Consolas"/>
              </a:rPr>
              <a:t>Impact</a:t>
            </a:r>
            <a:endParaRPr b="0" sz="2500">
              <a:latin typeface="Consolas"/>
              <a:ea typeface="Consolas"/>
              <a:cs typeface="Consolas"/>
              <a:sym typeface="Consolas"/>
            </a:endParaRPr>
          </a:p>
          <a:p>
            <a:pPr indent="-273050" lvl="1" marL="685800" rtl="0" algn="l">
              <a:lnSpc>
                <a:spcPct val="90000"/>
              </a:lnSpc>
              <a:spcBef>
                <a:spcPts val="500"/>
              </a:spcBef>
              <a:spcAft>
                <a:spcPts val="0"/>
              </a:spcAft>
              <a:buClr>
                <a:schemeClr val="dk1"/>
              </a:buClr>
              <a:buSzPts val="2500"/>
              <a:buChar char="•"/>
            </a:pPr>
            <a:r>
              <a:rPr lang="pt-BR" sz="2500"/>
              <a:t>Tamanho: 22pt;</a:t>
            </a:r>
            <a:endParaRPr sz="3100"/>
          </a:p>
          <a:p>
            <a:pPr indent="-273050" lvl="1" marL="685800" rtl="0" algn="l">
              <a:lnSpc>
                <a:spcPct val="90000"/>
              </a:lnSpc>
              <a:spcBef>
                <a:spcPts val="500"/>
              </a:spcBef>
              <a:spcAft>
                <a:spcPts val="0"/>
              </a:spcAft>
              <a:buClr>
                <a:schemeClr val="dk1"/>
              </a:buClr>
              <a:buSzPts val="2500"/>
              <a:buChar char="•"/>
            </a:pPr>
            <a:r>
              <a:rPr lang="pt-BR" sz="2500"/>
              <a:t>Cor: Azul Marinho (Midnightblue);</a:t>
            </a:r>
            <a:endParaRPr sz="3100"/>
          </a:p>
          <a:p>
            <a:pPr indent="-273050" lvl="1" marL="685800" rtl="0" algn="l">
              <a:lnSpc>
                <a:spcPct val="90000"/>
              </a:lnSpc>
              <a:spcBef>
                <a:spcPts val="500"/>
              </a:spcBef>
              <a:spcAft>
                <a:spcPts val="0"/>
              </a:spcAft>
              <a:buClr>
                <a:schemeClr val="dk1"/>
              </a:buClr>
              <a:buSzPts val="2500"/>
              <a:buChar char="•"/>
            </a:pPr>
            <a:r>
              <a:rPr lang="pt-BR" sz="2500"/>
              <a:t>Alinhamento: centro;</a:t>
            </a:r>
            <a:endParaRPr sz="3100"/>
          </a:p>
          <a:p>
            <a:pPr indent="-273050" lvl="1" marL="685800" rtl="0" algn="l">
              <a:lnSpc>
                <a:spcPct val="90000"/>
              </a:lnSpc>
              <a:spcBef>
                <a:spcPts val="500"/>
              </a:spcBef>
              <a:spcAft>
                <a:spcPts val="0"/>
              </a:spcAft>
              <a:buClr>
                <a:schemeClr val="dk1"/>
              </a:buClr>
              <a:buSzPts val="2500"/>
              <a:buChar char="•"/>
            </a:pPr>
            <a:r>
              <a:rPr lang="pt-BR" sz="2500"/>
              <a:t>Margem inferior: 4px;</a:t>
            </a:r>
            <a:endParaRPr sz="3100"/>
          </a:p>
        </p:txBody>
      </p:sp>
      <p:sp>
        <p:nvSpPr>
          <p:cNvPr id="430" name="Google Shape;430;g3a13febb96f_0_2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a13febb96f_0_29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437" name="Google Shape;437;g3a13febb96f_0_297"/>
          <p:cNvSpPr txBox="1"/>
          <p:nvPr>
            <p:ph idx="4294967295"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Como definir uma classe</a:t>
            </a:r>
            <a:endParaRPr/>
          </a:p>
        </p:txBody>
      </p:sp>
      <p:sp>
        <p:nvSpPr>
          <p:cNvPr id="438" name="Google Shape;438;g3a13febb96f_0_297"/>
          <p:cNvSpPr/>
          <p:nvPr/>
        </p:nvSpPr>
        <p:spPr>
          <a:xfrm rot="6269048">
            <a:off x="8717891" y="3339291"/>
            <a:ext cx="2987863" cy="2987863"/>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439" name="Google Shape;439;g3a13febb96f_0_297"/>
          <p:cNvPicPr preferRelativeResize="0"/>
          <p:nvPr/>
        </p:nvPicPr>
        <p:blipFill rotWithShape="1">
          <a:blip r:embed="rId3">
            <a:alphaModFix/>
          </a:blip>
          <a:srcRect b="0" l="0" r="0" t="0"/>
          <a:stretch/>
        </p:blipFill>
        <p:spPr>
          <a:xfrm>
            <a:off x="1304818" y="1893830"/>
            <a:ext cx="9918938" cy="909423"/>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440" name="Google Shape;440;g3a13febb96f_0_297"/>
          <p:cNvSpPr txBox="1"/>
          <p:nvPr>
            <p:ph idx="4294967295" type="body"/>
          </p:nvPr>
        </p:nvSpPr>
        <p:spPr>
          <a:xfrm>
            <a:off x="838200" y="3507725"/>
            <a:ext cx="10515600" cy="2669100"/>
          </a:xfrm>
          <a:prstGeom prst="rect">
            <a:avLst/>
          </a:prstGeom>
          <a:noFill/>
          <a:ln>
            <a:noFill/>
          </a:ln>
        </p:spPr>
        <p:txBody>
          <a:bodyPr anchorCtr="0" anchor="t" bIns="45700" lIns="91425" spcFirstLastPara="1" rIns="91425" wrap="square" tIns="45700">
            <a:noAutofit/>
          </a:bodyPr>
          <a:lstStyle/>
          <a:p>
            <a:pPr indent="-342900" lvl="0" marL="228600" rtl="0" algn="l">
              <a:lnSpc>
                <a:spcPct val="90000"/>
              </a:lnSpc>
              <a:spcBef>
                <a:spcPts val="0"/>
              </a:spcBef>
              <a:spcAft>
                <a:spcPts val="0"/>
              </a:spcAft>
              <a:buClr>
                <a:schemeClr val="dk1"/>
              </a:buClr>
              <a:buSzPts val="3600"/>
              <a:buChar char="•"/>
            </a:pPr>
            <a:r>
              <a:rPr lang="pt-BR" sz="3600"/>
              <a:t>Basta agora adicionar um atributo class em todas as tags que desejamos como título.</a:t>
            </a:r>
            <a:endParaRPr sz="3600"/>
          </a:p>
          <a:p>
            <a:pPr indent="-342900" lvl="0" marL="228600" rtl="0" algn="l">
              <a:lnSpc>
                <a:spcPct val="90000"/>
              </a:lnSpc>
              <a:spcBef>
                <a:spcPts val="1000"/>
              </a:spcBef>
              <a:spcAft>
                <a:spcPts val="0"/>
              </a:spcAft>
              <a:buClr>
                <a:schemeClr val="dk1"/>
              </a:buClr>
              <a:buSzPts val="3600"/>
              <a:buChar char="•"/>
            </a:pPr>
            <a:r>
              <a:rPr lang="pt-BR" sz="3600"/>
              <a:t>Veja, que no atributo class de cada tag, escrevemos o nome dela sem o ponto antes do nome.</a:t>
            </a:r>
            <a:endParaRPr sz="3600"/>
          </a:p>
        </p:txBody>
      </p:sp>
      <p:sp>
        <p:nvSpPr>
          <p:cNvPr id="441" name="Google Shape;441;g3a13febb96f_0_2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DESAFIO!</a:t>
            </a:r>
            <a:endParaRPr/>
          </a:p>
        </p:txBody>
      </p:sp>
      <p:sp>
        <p:nvSpPr>
          <p:cNvPr id="447" name="Google Shape;447;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pt-BR"/>
              <a:t>Se valendo das características que os elementos devem possuir.</a:t>
            </a:r>
            <a:endParaRPr/>
          </a:p>
          <a:p>
            <a:pPr indent="-228600" lvl="0" marL="228600" rtl="0" algn="l">
              <a:lnSpc>
                <a:spcPct val="90000"/>
              </a:lnSpc>
              <a:spcBef>
                <a:spcPts val="1000"/>
              </a:spcBef>
              <a:spcAft>
                <a:spcPts val="0"/>
              </a:spcAft>
              <a:buClr>
                <a:schemeClr val="dk1"/>
              </a:buClr>
              <a:buSzPts val="2800"/>
              <a:buChar char="•"/>
            </a:pPr>
            <a:r>
              <a:rPr lang="pt-BR"/>
              <a:t>Elabore classes para padronizar o estilo de:</a:t>
            </a:r>
            <a:endParaRPr/>
          </a:p>
          <a:p>
            <a:pPr indent="-228600" lvl="1" marL="685800" rtl="0" algn="l">
              <a:lnSpc>
                <a:spcPct val="90000"/>
              </a:lnSpc>
              <a:spcBef>
                <a:spcPts val="500"/>
              </a:spcBef>
              <a:spcAft>
                <a:spcPts val="0"/>
              </a:spcAft>
              <a:buClr>
                <a:schemeClr val="dk1"/>
              </a:buClr>
              <a:buSzPts val="2400"/>
              <a:buChar char="•"/>
            </a:pPr>
            <a:r>
              <a:rPr lang="pt-BR"/>
              <a:t>Botões</a:t>
            </a:r>
            <a:endParaRPr/>
          </a:p>
          <a:p>
            <a:pPr indent="-228600" lvl="1" marL="685800" rtl="0" algn="l">
              <a:lnSpc>
                <a:spcPct val="90000"/>
              </a:lnSpc>
              <a:spcBef>
                <a:spcPts val="500"/>
              </a:spcBef>
              <a:spcAft>
                <a:spcPts val="0"/>
              </a:spcAft>
              <a:buClr>
                <a:schemeClr val="dk1"/>
              </a:buClr>
              <a:buSzPts val="2400"/>
              <a:buChar char="•"/>
            </a:pPr>
            <a:r>
              <a:rPr lang="pt-BR"/>
              <a:t>Listas</a:t>
            </a:r>
            <a:endParaRPr/>
          </a:p>
          <a:p>
            <a:pPr indent="-228600" lvl="1" marL="685800" rtl="0" algn="l">
              <a:lnSpc>
                <a:spcPct val="90000"/>
              </a:lnSpc>
              <a:spcBef>
                <a:spcPts val="500"/>
              </a:spcBef>
              <a:spcAft>
                <a:spcPts val="0"/>
              </a:spcAft>
              <a:buClr>
                <a:schemeClr val="dk1"/>
              </a:buClr>
              <a:buSzPts val="2400"/>
              <a:buChar char="•"/>
            </a:pPr>
            <a:r>
              <a:rPr lang="pt-BR"/>
              <a:t>Imagens</a:t>
            </a:r>
            <a:endParaRPr/>
          </a:p>
          <a:p>
            <a:pPr indent="-228600" lvl="1" marL="685800" rtl="0" algn="l">
              <a:lnSpc>
                <a:spcPct val="90000"/>
              </a:lnSpc>
              <a:spcBef>
                <a:spcPts val="500"/>
              </a:spcBef>
              <a:spcAft>
                <a:spcPts val="0"/>
              </a:spcAft>
              <a:buClr>
                <a:schemeClr val="dk1"/>
              </a:buClr>
              <a:buSzPts val="2400"/>
              <a:buChar char="•"/>
            </a:pPr>
            <a:r>
              <a:rPr lang="pt-BR"/>
              <a:t>Títulos</a:t>
            </a:r>
            <a:endParaRPr/>
          </a:p>
          <a:p>
            <a:pPr indent="-228600" lvl="1" marL="685800" rtl="0" algn="l">
              <a:lnSpc>
                <a:spcPct val="90000"/>
              </a:lnSpc>
              <a:spcBef>
                <a:spcPts val="500"/>
              </a:spcBef>
              <a:spcAft>
                <a:spcPts val="0"/>
              </a:spcAft>
              <a:buClr>
                <a:schemeClr val="dk1"/>
              </a:buClr>
              <a:buSzPts val="2400"/>
              <a:buChar char="•"/>
            </a:pPr>
            <a:r>
              <a:rPr lang="pt-BR"/>
              <a:t>Textos</a:t>
            </a:r>
            <a:endParaRPr/>
          </a:p>
          <a:p>
            <a:pPr indent="-228600" lvl="0" marL="228600" rtl="0" algn="l">
              <a:lnSpc>
                <a:spcPct val="90000"/>
              </a:lnSpc>
              <a:spcBef>
                <a:spcPts val="1000"/>
              </a:spcBef>
              <a:spcAft>
                <a:spcPts val="0"/>
              </a:spcAft>
              <a:buClr>
                <a:schemeClr val="dk1"/>
              </a:buClr>
              <a:buSzPts val="2800"/>
              <a:buChar char="•"/>
            </a:pPr>
            <a:r>
              <a:rPr lang="pt-BR"/>
              <a:t>Considere apenas as características sem se preocupar com propriedades CSS.</a:t>
            </a:r>
            <a:endParaRPr/>
          </a:p>
        </p:txBody>
      </p:sp>
      <p:sp>
        <p:nvSpPr>
          <p:cNvPr id="448" name="Google Shape;44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449" name="Google Shape;44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Verdana"/>
              <a:buNone/>
            </a:pPr>
            <a:r>
              <a:rPr lang="pt-BR"/>
              <a:t>Exemplo de CSS no arquivo anexo</a:t>
            </a:r>
            <a:endParaRPr/>
          </a:p>
        </p:txBody>
      </p:sp>
      <p:sp>
        <p:nvSpPr>
          <p:cNvPr id="455" name="Google Shape;455;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pt-BR"/>
              <a:t>Tome como exemplo o arquivo em anexo.</a:t>
            </a:r>
            <a:endParaRPr/>
          </a:p>
          <a:p>
            <a:pPr indent="-228600" lvl="0" marL="228600" rtl="0" algn="l">
              <a:lnSpc>
                <a:spcPct val="90000"/>
              </a:lnSpc>
              <a:spcBef>
                <a:spcPts val="1000"/>
              </a:spcBef>
              <a:spcAft>
                <a:spcPts val="0"/>
              </a:spcAft>
              <a:buClr>
                <a:schemeClr val="dk1"/>
              </a:buClr>
              <a:buSzPts val="2800"/>
              <a:buChar char="•"/>
            </a:pPr>
            <a:r>
              <a:rPr lang="pt-BR"/>
              <a:t>Faça pesquisas para entender o que foi pedido.</a:t>
            </a:r>
            <a:endParaRPr/>
          </a:p>
          <a:p>
            <a:pPr indent="-228600" lvl="0" marL="228600" rtl="0" algn="l">
              <a:lnSpc>
                <a:spcPct val="90000"/>
              </a:lnSpc>
              <a:spcBef>
                <a:spcPts val="1000"/>
              </a:spcBef>
              <a:spcAft>
                <a:spcPts val="0"/>
              </a:spcAft>
              <a:buClr>
                <a:schemeClr val="dk1"/>
              </a:buClr>
              <a:buSzPts val="2800"/>
              <a:buChar char="•"/>
            </a:pPr>
            <a:r>
              <a:rPr lang="pt-BR"/>
              <a:t>Faça testes nos arquivos de aula.</a:t>
            </a:r>
            <a:endParaRPr/>
          </a:p>
          <a:p>
            <a:pPr indent="-228600" lvl="0" marL="228600" rtl="0" algn="l">
              <a:lnSpc>
                <a:spcPct val="90000"/>
              </a:lnSpc>
              <a:spcBef>
                <a:spcPts val="1000"/>
              </a:spcBef>
              <a:spcAft>
                <a:spcPts val="0"/>
              </a:spcAft>
              <a:buClr>
                <a:schemeClr val="dk1"/>
              </a:buClr>
              <a:buSzPts val="2800"/>
              <a:buChar char="•"/>
            </a:pPr>
            <a:r>
              <a:rPr lang="pt-BR"/>
              <a:t>Tente definir essas classes em tags aleatórias.</a:t>
            </a:r>
            <a:endParaRPr/>
          </a:p>
        </p:txBody>
      </p:sp>
      <p:sp>
        <p:nvSpPr>
          <p:cNvPr id="456" name="Google Shape;45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pt-BR"/>
              <a:t>Prof. Rodrigo Attique</a:t>
            </a:r>
            <a:endParaRPr/>
          </a:p>
        </p:txBody>
      </p:sp>
      <p:sp>
        <p:nvSpPr>
          <p:cNvPr id="457" name="Google Shape;45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a252c7bf26_0_0"/>
          <p:cNvSpPr/>
          <p:nvPr/>
        </p:nvSpPr>
        <p:spPr>
          <a:xfrm>
            <a:off x="2209800" y="2099696"/>
            <a:ext cx="1942200" cy="1889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 name="Google Shape;463;g3a252c7bf26_0_0"/>
          <p:cNvSpPr/>
          <p:nvPr/>
        </p:nvSpPr>
        <p:spPr>
          <a:xfrm rot="-3079819">
            <a:off x="1613154" y="1492604"/>
            <a:ext cx="2987854" cy="2987854"/>
          </a:xfrm>
          <a:prstGeom prst="arc">
            <a:avLst>
              <a:gd fmla="val 14455503" name="adj1"/>
              <a:gd fmla="val 227775"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exto preto sobre fundo branco&#10;&#10;Descrição gerada automaticamente" id="464" name="Google Shape;464;g3a252c7bf26_0_0"/>
          <p:cNvPicPr preferRelativeResize="0"/>
          <p:nvPr/>
        </p:nvPicPr>
        <p:blipFill rotWithShape="1">
          <a:blip r:embed="rId3">
            <a:alphaModFix/>
          </a:blip>
          <a:srcRect b="0" l="0" r="0" t="0"/>
          <a:stretch/>
        </p:blipFill>
        <p:spPr>
          <a:xfrm>
            <a:off x="185737" y="2019300"/>
            <a:ext cx="11820525" cy="2819400"/>
          </a:xfrm>
          <a:prstGeom prst="rect">
            <a:avLst/>
          </a:prstGeom>
          <a:noFill/>
          <a:ln>
            <a:noFill/>
          </a:ln>
        </p:spPr>
      </p:pic>
      <p:sp>
        <p:nvSpPr>
          <p:cNvPr id="465" name="Google Shape;465;g3a252c7bf26_0_0"/>
          <p:cNvSpPr txBox="1"/>
          <p:nvPr/>
        </p:nvSpPr>
        <p:spPr>
          <a:xfrm>
            <a:off x="185737" y="4838700"/>
            <a:ext cx="11820600" cy="23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900" u="sng">
                <a:solidFill>
                  <a:schemeClr val="dk1"/>
                </a:solidFill>
                <a:latin typeface="Calibri"/>
                <a:ea typeface="Calibri"/>
                <a:cs typeface="Calibri"/>
                <a:sym typeface="Calibri"/>
                <a:hlinkClick r:id="rId4">
                  <a:extLst>
                    <a:ext uri="{A12FA001-AC4F-418D-AE19-62706E023703}">
                      <ahyp:hlinkClr val="tx"/>
                    </a:ext>
                  </a:extLst>
                </a:hlinkClick>
              </a:rPr>
              <a:t>Esta Foto</a:t>
            </a:r>
            <a:r>
              <a:rPr lang="pt-BR" sz="900">
                <a:solidFill>
                  <a:schemeClr val="dk1"/>
                </a:solidFill>
                <a:latin typeface="Calibri"/>
                <a:ea typeface="Calibri"/>
                <a:cs typeface="Calibri"/>
                <a:sym typeface="Calibri"/>
              </a:rPr>
              <a:t> de Autor Desconhecido está licenciado em </a:t>
            </a:r>
            <a:r>
              <a:rPr lang="pt-BR" sz="900" u="sng">
                <a:solidFill>
                  <a:schemeClr val="dk1"/>
                </a:solidFill>
                <a:latin typeface="Calibri"/>
                <a:ea typeface="Calibri"/>
                <a:cs typeface="Calibri"/>
                <a:sym typeface="Calibri"/>
                <a:hlinkClick r:id="rId5">
                  <a:extLst>
                    <a:ext uri="{A12FA001-AC4F-418D-AE19-62706E023703}">
                      <ahyp:hlinkClr val="tx"/>
                    </a:ext>
                  </a:extLst>
                </a:hlinkClick>
              </a:rPr>
              <a:t>CC BY-NC</a:t>
            </a:r>
            <a:endParaRPr sz="900">
              <a:solidFill>
                <a:schemeClr val="dk1"/>
              </a:solidFill>
              <a:latin typeface="Calibri"/>
              <a:ea typeface="Calibri"/>
              <a:cs typeface="Calibri"/>
              <a:sym typeface="Calibri"/>
            </a:endParaRPr>
          </a:p>
        </p:txBody>
      </p:sp>
      <p:sp>
        <p:nvSpPr>
          <p:cNvPr id="466" name="Google Shape;466;g3a252c7bf26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pt-BR"/>
              <a:t>‹#›</a:t>
            </a:fld>
            <a:endParaRPr/>
          </a:p>
        </p:txBody>
      </p:sp>
      <p:sp>
        <p:nvSpPr>
          <p:cNvPr id="467" name="Google Shape;467;g3a252c7bf26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2024-08-01T16:06:23Z</dcterms:created>
  <dc:creator>Rodrigo Attique Santana</dc:creator>
</cp:coreProperties>
</file>